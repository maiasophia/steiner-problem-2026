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4610100" cy="3460750"/>
  <p:notesSz cx="4610100" cy="3460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61884"/>
            <a:ext cx="143256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#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#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#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#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#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4330"/>
          </a:xfrm>
          <a:custGeom>
            <a:avLst/>
            <a:gdLst/>
            <a:ahLst/>
            <a:cxnLst/>
            <a:rect l="l" t="t" r="r" b="b"/>
            <a:pathLst>
              <a:path w="4608195" h="354330">
                <a:moveTo>
                  <a:pt x="4608004" y="0"/>
                </a:moveTo>
                <a:lnTo>
                  <a:pt x="0" y="0"/>
                </a:lnTo>
                <a:lnTo>
                  <a:pt x="0" y="354152"/>
                </a:lnTo>
                <a:lnTo>
                  <a:pt x="4608004" y="354152"/>
                </a:lnTo>
                <a:lnTo>
                  <a:pt x="4608004" y="0"/>
                </a:lnTo>
                <a:close/>
              </a:path>
            </a:pathLst>
          </a:custGeom>
          <a:solidFill>
            <a:srgbClr val="E306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1884"/>
            <a:ext cx="419735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4955" y="1598611"/>
            <a:ext cx="3961765" cy="895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509174" y="3338410"/>
            <a:ext cx="409575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6065" y="3338410"/>
            <a:ext cx="1504315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275154" y="3338410"/>
            <a:ext cx="278242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#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slide" Target="slide16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slide" Target="slide16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16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slide" Target="slide16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slide" Target="slide16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slide" Target="slide1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slide" Target="slide16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slide" Target="slide1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" Target="slide1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slide" Target="slide1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slide" Target="slide1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slide" Target="slide1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slide" Target="slide1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" Target="slide1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Relationship Id="rId3" Type="http://schemas.openxmlformats.org/officeDocument/2006/relationships/slide" Target="slide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854" y="575830"/>
            <a:ext cx="4485640" cy="532765"/>
            <a:chOff x="86854" y="575830"/>
            <a:chExt cx="4485640" cy="532765"/>
          </a:xfrm>
        </p:grpSpPr>
        <p:sp>
          <p:nvSpPr>
            <p:cNvPr id="3" name="object 3"/>
            <p:cNvSpPr/>
            <p:nvPr/>
          </p:nvSpPr>
          <p:spPr>
            <a:xfrm>
              <a:off x="86854" y="575830"/>
              <a:ext cx="4434840" cy="82550"/>
            </a:xfrm>
            <a:custGeom>
              <a:avLst/>
              <a:gdLst/>
              <a:ahLst/>
              <a:cxnLst/>
              <a:rect l="l" t="t" r="r" b="b"/>
              <a:pathLst>
                <a:path w="4434840" h="82550">
                  <a:moveTo>
                    <a:pt x="438353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4338" y="82384"/>
                  </a:lnTo>
                  <a:lnTo>
                    <a:pt x="4434338" y="50800"/>
                  </a:lnTo>
                  <a:lnTo>
                    <a:pt x="4430329" y="31075"/>
                  </a:lnTo>
                  <a:lnTo>
                    <a:pt x="4419415" y="14922"/>
                  </a:lnTo>
                  <a:lnTo>
                    <a:pt x="4403262" y="4008"/>
                  </a:lnTo>
                  <a:lnTo>
                    <a:pt x="4383537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37655" y="639083"/>
              <a:ext cx="4434840" cy="469900"/>
            </a:xfrm>
            <a:custGeom>
              <a:avLst/>
              <a:gdLst/>
              <a:ahLst/>
              <a:cxnLst/>
              <a:rect l="l" t="t" r="r" b="b"/>
              <a:pathLst>
                <a:path w="4434840" h="469900">
                  <a:moveTo>
                    <a:pt x="4434338" y="0"/>
                  </a:moveTo>
                  <a:lnTo>
                    <a:pt x="0" y="0"/>
                  </a:lnTo>
                  <a:lnTo>
                    <a:pt x="0" y="469462"/>
                  </a:lnTo>
                  <a:lnTo>
                    <a:pt x="4434338" y="469462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6854" y="620247"/>
              <a:ext cx="4434840" cy="437515"/>
            </a:xfrm>
            <a:custGeom>
              <a:avLst/>
              <a:gdLst/>
              <a:ahLst/>
              <a:cxnLst/>
              <a:rect l="l" t="t" r="r" b="b"/>
              <a:pathLst>
                <a:path w="4434840" h="437515">
                  <a:moveTo>
                    <a:pt x="4434338" y="0"/>
                  </a:moveTo>
                  <a:lnTo>
                    <a:pt x="0" y="0"/>
                  </a:lnTo>
                  <a:lnTo>
                    <a:pt x="0" y="386697"/>
                  </a:lnTo>
                  <a:lnTo>
                    <a:pt x="4008" y="406422"/>
                  </a:lnTo>
                  <a:lnTo>
                    <a:pt x="14922" y="422575"/>
                  </a:lnTo>
                  <a:lnTo>
                    <a:pt x="31075" y="433489"/>
                  </a:lnTo>
                  <a:lnTo>
                    <a:pt x="50800" y="437498"/>
                  </a:lnTo>
                  <a:lnTo>
                    <a:pt x="4383537" y="437498"/>
                  </a:lnTo>
                  <a:lnTo>
                    <a:pt x="4403262" y="433489"/>
                  </a:lnTo>
                  <a:lnTo>
                    <a:pt x="4419415" y="422575"/>
                  </a:lnTo>
                  <a:lnTo>
                    <a:pt x="4430329" y="406422"/>
                  </a:lnTo>
                  <a:lnTo>
                    <a:pt x="4434338" y="386697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37655" y="639083"/>
            <a:ext cx="4434840" cy="469900"/>
          </a:xfrm>
          <a:prstGeom prst="rect"/>
        </p:spPr>
        <p:txBody>
          <a:bodyPr wrap="square" lIns="0" tIns="59690" rIns="0" bIns="0" rtlCol="0" vert="horz">
            <a:spAutoFit/>
          </a:bodyPr>
          <a:lstStyle/>
          <a:p>
            <a:pPr algn="ctr" marR="93980">
              <a:lnSpc>
                <a:spcPct val="100000"/>
              </a:lnSpc>
              <a:spcBef>
                <a:spcPts val="470"/>
              </a:spcBef>
            </a:pPr>
            <a:r>
              <a:rPr dirty="0" spc="-10"/>
              <a:t>The</a:t>
            </a:r>
            <a:r>
              <a:rPr dirty="0" spc="-20"/>
              <a:t> </a:t>
            </a:r>
            <a:r>
              <a:rPr dirty="0" spc="-65"/>
              <a:t>Steiner</a:t>
            </a:r>
            <a:r>
              <a:rPr dirty="0" spc="-20"/>
              <a:t> </a:t>
            </a:r>
            <a:r>
              <a:rPr dirty="0" spc="-65"/>
              <a:t>Problem</a:t>
            </a:r>
            <a:r>
              <a:rPr dirty="0" spc="-15"/>
              <a:t> </a:t>
            </a:r>
            <a:r>
              <a:rPr dirty="0"/>
              <a:t>in</a:t>
            </a:r>
            <a:r>
              <a:rPr dirty="0" spc="-20"/>
              <a:t> </a:t>
            </a:r>
            <a:r>
              <a:rPr dirty="0"/>
              <a:t>Metric</a:t>
            </a:r>
            <a:r>
              <a:rPr dirty="0" spc="-20"/>
              <a:t> </a:t>
            </a:r>
            <a:r>
              <a:rPr dirty="0" spc="-10"/>
              <a:t>Spaces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5588" y="1271840"/>
            <a:ext cx="2257425" cy="8420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 MT"/>
                <a:cs typeface="Arial MT"/>
              </a:rPr>
              <a:t>MAI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Sophia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REYNAUD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Clo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1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800" spc="-25">
                <a:latin typeface="Arial MT"/>
                <a:cs typeface="Arial MT"/>
              </a:rPr>
              <a:t>Supervised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by</a:t>
            </a:r>
            <a:r>
              <a:rPr dirty="0" sz="800" spc="20">
                <a:latin typeface="Arial MT"/>
                <a:cs typeface="Arial MT"/>
              </a:rPr>
              <a:t> </a:t>
            </a:r>
            <a:r>
              <a:rPr dirty="0" sz="800">
                <a:latin typeface="Arial MT"/>
                <a:cs typeface="Arial MT"/>
              </a:rPr>
              <a:t>Vincent</a:t>
            </a:r>
            <a:r>
              <a:rPr dirty="0" sz="800" spc="15">
                <a:latin typeface="Arial MT"/>
                <a:cs typeface="Arial MT"/>
              </a:rPr>
              <a:t> </a:t>
            </a:r>
            <a:r>
              <a:rPr dirty="0" sz="800" spc="-10">
                <a:latin typeface="Arial MT"/>
                <a:cs typeface="Arial MT"/>
              </a:rPr>
              <a:t>Millot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8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1100">
                <a:latin typeface="Arial MT"/>
                <a:cs typeface="Arial MT"/>
              </a:rPr>
              <a:t>April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2026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856" y="2300518"/>
            <a:ext cx="1088918" cy="46412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884"/>
            <a:ext cx="91376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0">
                <a:solidFill>
                  <a:srgbClr val="FFFFFF"/>
                </a:solidFill>
                <a:latin typeface="Arial MT"/>
                <a:cs typeface="Arial MT"/>
              </a:rPr>
              <a:t>Introduction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01226"/>
            <a:ext cx="4608195" cy="3054985"/>
            <a:chOff x="0" y="401226"/>
            <a:chExt cx="4608195" cy="30549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655" y="401226"/>
              <a:ext cx="4332806" cy="294035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Table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35"/>
              <a:t>content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796" y="1313075"/>
            <a:ext cx="114214" cy="11421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8920" y="1299964"/>
            <a:ext cx="704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056" y="1215184"/>
            <a:ext cx="3649345" cy="86614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>
                <a:latin typeface="Arial MT"/>
                <a:cs typeface="Arial MT"/>
              </a:rPr>
              <a:t>Introduction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100" spc="-1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parametric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problem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5299"/>
              </a:lnSpc>
            </a:pPr>
            <a:r>
              <a:rPr dirty="0" sz="1100" spc="-1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intrinsic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problem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relation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parametric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problem </a:t>
            </a:r>
            <a:r>
              <a:rPr dirty="0" sz="1100" spc="-10">
                <a:latin typeface="Arial MT"/>
                <a:cs typeface="Arial MT"/>
              </a:rPr>
              <a:t>Conclusion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796" y="1523107"/>
            <a:ext cx="114214" cy="1142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48920" y="1509996"/>
            <a:ext cx="704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6796" y="1733140"/>
            <a:ext cx="114214" cy="11421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48920" y="1720029"/>
            <a:ext cx="704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6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796" y="1943173"/>
            <a:ext cx="114214" cy="11421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48920" y="1930062"/>
            <a:ext cx="70485" cy="11683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00" spc="-5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6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884"/>
            <a:ext cx="145224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Arial MT"/>
                <a:cs typeface="Arial MT"/>
              </a:rPr>
              <a:t>four-</a:t>
            </a:r>
            <a:r>
              <a:rPr dirty="0" sz="1400">
                <a:solidFill>
                  <a:srgbClr val="FFFFFF"/>
                </a:solidFill>
                <a:latin typeface="Arial MT"/>
                <a:cs typeface="Arial MT"/>
              </a:rPr>
              <a:t>point</a:t>
            </a:r>
            <a:r>
              <a:rPr dirty="0" sz="1400" spc="-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114">
                <a:solidFill>
                  <a:srgbClr val="FFFFFF"/>
                </a:solidFill>
                <a:latin typeface="Arial MT"/>
                <a:cs typeface="Arial MT"/>
              </a:rPr>
              <a:t>case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24955" y="974685"/>
            <a:ext cx="3447415" cy="19177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50">
                <a:solidFill>
                  <a:srgbClr val="000000"/>
                </a:solidFill>
              </a:rPr>
              <a:t>How</a:t>
            </a:r>
            <a:r>
              <a:rPr dirty="0" sz="1100" spc="-25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will</a:t>
            </a:r>
            <a:r>
              <a:rPr dirty="0" sz="1100" spc="-30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the</a:t>
            </a:r>
            <a:r>
              <a:rPr dirty="0" sz="1100" spc="-10">
                <a:solidFill>
                  <a:srgbClr val="000000"/>
                </a:solidFill>
              </a:rPr>
              <a:t> </a:t>
            </a:r>
            <a:r>
              <a:rPr dirty="0" sz="1100" spc="-85">
                <a:solidFill>
                  <a:srgbClr val="000000"/>
                </a:solidFill>
              </a:rPr>
              <a:t>soap</a:t>
            </a:r>
            <a:r>
              <a:rPr dirty="0" sz="1100" spc="10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film</a:t>
            </a:r>
            <a:r>
              <a:rPr dirty="0" sz="1100" spc="-15">
                <a:solidFill>
                  <a:srgbClr val="000000"/>
                </a:solidFill>
              </a:rPr>
              <a:t> </a:t>
            </a:r>
            <a:r>
              <a:rPr dirty="0" sz="1100" spc="-50">
                <a:solidFill>
                  <a:srgbClr val="000000"/>
                </a:solidFill>
              </a:rPr>
              <a:t>connect</a:t>
            </a:r>
            <a:r>
              <a:rPr dirty="0" sz="1100" spc="-15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four</a:t>
            </a:r>
            <a:r>
              <a:rPr dirty="0" sz="1100" spc="-15">
                <a:solidFill>
                  <a:srgbClr val="000000"/>
                </a:solidFill>
              </a:rPr>
              <a:t> </a:t>
            </a:r>
            <a:r>
              <a:rPr dirty="0" sz="1100" spc="-50">
                <a:solidFill>
                  <a:srgbClr val="000000"/>
                </a:solidFill>
              </a:rPr>
              <a:t>vertices</a:t>
            </a:r>
            <a:r>
              <a:rPr dirty="0" sz="1100" spc="-10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of</a:t>
            </a:r>
            <a:r>
              <a:rPr dirty="0" sz="1100" spc="-15">
                <a:solidFill>
                  <a:srgbClr val="000000"/>
                </a:solidFill>
              </a:rPr>
              <a:t> </a:t>
            </a:r>
            <a:r>
              <a:rPr dirty="0" sz="1100">
                <a:solidFill>
                  <a:srgbClr val="000000"/>
                </a:solidFill>
              </a:rPr>
              <a:t>a</a:t>
            </a:r>
            <a:r>
              <a:rPr dirty="0" sz="1100" spc="-15">
                <a:solidFill>
                  <a:srgbClr val="000000"/>
                </a:solidFill>
              </a:rPr>
              <a:t> </a:t>
            </a:r>
            <a:r>
              <a:rPr dirty="0" sz="1100" spc="-30">
                <a:solidFill>
                  <a:srgbClr val="000000"/>
                </a:solidFill>
              </a:rPr>
              <a:t>rectangle?</a:t>
            </a:r>
            <a:endParaRPr sz="11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60" y="1389523"/>
            <a:ext cx="1289187" cy="84884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4865" y="1441821"/>
            <a:ext cx="1259057" cy="8155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27951" y="1399449"/>
            <a:ext cx="1184987" cy="835233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884"/>
            <a:ext cx="54737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90"/>
              <a:t>Answer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555" y="432116"/>
            <a:ext cx="4403090" cy="88011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dirty="0" sz="1100" spc="-10">
                <a:latin typeface="Arial MT"/>
                <a:cs typeface="Arial MT"/>
              </a:rPr>
              <a:t>The </a:t>
            </a:r>
            <a:r>
              <a:rPr dirty="0" sz="1100" spc="-40">
                <a:latin typeface="Arial MT"/>
                <a:cs typeface="Arial MT"/>
              </a:rPr>
              <a:t>Steiner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Problem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optimizes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networks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adding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extra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junctions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find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shortest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path.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2D,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geodesic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problem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where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segments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always </a:t>
            </a:r>
            <a:r>
              <a:rPr dirty="0" sz="1100" spc="-50">
                <a:latin typeface="Arial MT"/>
                <a:cs typeface="Arial MT"/>
              </a:rPr>
              <a:t>meet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120</a:t>
            </a:r>
            <a:r>
              <a:rPr dirty="0" baseline="27777" sz="1200" spc="-15">
                <a:latin typeface="Lucida Sans Unicode"/>
                <a:cs typeface="Lucida Sans Unicode"/>
              </a:rPr>
              <a:t>◦</a:t>
            </a:r>
            <a:r>
              <a:rPr dirty="0" sz="1100" spc="-10">
                <a:latin typeface="Arial MT"/>
                <a:cs typeface="Arial MT"/>
              </a:rPr>
              <a:t>.</a:t>
            </a:r>
            <a:r>
              <a:rPr dirty="0" sz="1100" spc="1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While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mathematically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complex,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nature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90">
                <a:latin typeface="Arial MT"/>
                <a:cs typeface="Arial MT"/>
              </a:rPr>
              <a:t>solves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instantly: </a:t>
            </a:r>
            <a:r>
              <a:rPr dirty="0" sz="1100" spc="-85">
                <a:latin typeface="Arial MT"/>
                <a:cs typeface="Arial MT"/>
              </a:rPr>
              <a:t>soap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films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naturally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minimize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their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surface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area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reach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lowest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energy state.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890" y="1478547"/>
            <a:ext cx="1332847" cy="13261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0673" y="1558712"/>
            <a:ext cx="2079653" cy="138998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4955" y="3083393"/>
            <a:ext cx="37014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 MT"/>
                <a:cs typeface="Arial MT"/>
              </a:rPr>
              <a:t>What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happens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higher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dimensions?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Does</a:t>
            </a:r>
            <a:r>
              <a:rPr dirty="0" sz="1100">
                <a:latin typeface="Arial MT"/>
                <a:cs typeface="Arial MT"/>
              </a:rPr>
              <a:t> 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solution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still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exist?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4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4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4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4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4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Total</a:t>
            </a:r>
            <a:r>
              <a:rPr dirty="0" spc="-35"/>
              <a:t> variation </a:t>
            </a:r>
            <a:r>
              <a:rPr dirty="0" spc="-65"/>
              <a:t>and</a:t>
            </a:r>
            <a:r>
              <a:rPr dirty="0" spc="-30"/>
              <a:t> </a:t>
            </a:r>
            <a:r>
              <a:rPr dirty="0" spc="-40"/>
              <a:t>formulation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50"/>
              <a:t>parametric</a:t>
            </a:r>
            <a:r>
              <a:rPr dirty="0" spc="-35"/>
              <a:t> </a:t>
            </a:r>
            <a:r>
              <a:rPr dirty="0" spc="-30"/>
              <a:t>probem</a:t>
            </a:r>
          </a:p>
        </p:txBody>
      </p:sp>
      <p:sp>
        <p:nvSpPr>
          <p:cNvPr id="3" name="object 3"/>
          <p:cNvSpPr/>
          <p:nvPr/>
        </p:nvSpPr>
        <p:spPr>
          <a:xfrm>
            <a:off x="86854" y="728103"/>
            <a:ext cx="4434840" cy="215265"/>
          </a:xfrm>
          <a:custGeom>
            <a:avLst/>
            <a:gdLst/>
            <a:ahLst/>
            <a:cxnLst/>
            <a:rect l="l" t="t" r="r" b="b"/>
            <a:pathLst>
              <a:path w="4434840" h="21526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01"/>
                </a:lnTo>
                <a:lnTo>
                  <a:pt x="4434338" y="215201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57D5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7655" y="744157"/>
            <a:ext cx="1743710" cy="184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Definition</a:t>
            </a:r>
            <a:r>
              <a:rPr dirty="0" sz="120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200" spc="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(total</a:t>
            </a:r>
            <a:r>
              <a:rPr dirty="0" sz="120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MT"/>
                <a:cs typeface="Arial MT"/>
              </a:rPr>
              <a:t>variation)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854" y="785011"/>
            <a:ext cx="4485640" cy="1496695"/>
            <a:chOff x="86854" y="785011"/>
            <a:chExt cx="4485640" cy="14966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54" y="930643"/>
              <a:ext cx="4434338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7655" y="785011"/>
              <a:ext cx="4434840" cy="1496695"/>
            </a:xfrm>
            <a:custGeom>
              <a:avLst/>
              <a:gdLst/>
              <a:ahLst/>
              <a:cxnLst/>
              <a:rect l="l" t="t" r="r" b="b"/>
              <a:pathLst>
                <a:path w="4434840" h="1496695">
                  <a:moveTo>
                    <a:pt x="4434338" y="0"/>
                  </a:moveTo>
                  <a:lnTo>
                    <a:pt x="0" y="0"/>
                  </a:lnTo>
                  <a:lnTo>
                    <a:pt x="0" y="1496252"/>
                  </a:lnTo>
                  <a:lnTo>
                    <a:pt x="4434338" y="1496252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54" y="974907"/>
              <a:ext cx="4434840" cy="1256030"/>
            </a:xfrm>
            <a:custGeom>
              <a:avLst/>
              <a:gdLst/>
              <a:ahLst/>
              <a:cxnLst/>
              <a:rect l="l" t="t" r="r" b="b"/>
              <a:pathLst>
                <a:path w="4434840" h="1256030">
                  <a:moveTo>
                    <a:pt x="4434338" y="0"/>
                  </a:moveTo>
                  <a:lnTo>
                    <a:pt x="0" y="0"/>
                  </a:lnTo>
                  <a:lnTo>
                    <a:pt x="0" y="1204755"/>
                  </a:lnTo>
                  <a:lnTo>
                    <a:pt x="4008" y="1224480"/>
                  </a:lnTo>
                  <a:lnTo>
                    <a:pt x="14922" y="1240633"/>
                  </a:lnTo>
                  <a:lnTo>
                    <a:pt x="31075" y="1251547"/>
                  </a:lnTo>
                  <a:lnTo>
                    <a:pt x="50800" y="1255555"/>
                  </a:lnTo>
                  <a:lnTo>
                    <a:pt x="4383537" y="1255555"/>
                  </a:lnTo>
                  <a:lnTo>
                    <a:pt x="4403262" y="1251547"/>
                  </a:lnTo>
                  <a:lnTo>
                    <a:pt x="4419415" y="1240633"/>
                  </a:lnTo>
                  <a:lnTo>
                    <a:pt x="4430329" y="1224480"/>
                  </a:lnTo>
                  <a:lnTo>
                    <a:pt x="4434338" y="1204755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EEFA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24955" y="952892"/>
            <a:ext cx="36264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Arial MT"/>
                <a:cs typeface="Arial MT"/>
              </a:rPr>
              <a:t>The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lengh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(or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variation)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curve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γ</a:t>
            </a:r>
            <a:r>
              <a:rPr dirty="0" sz="1100" spc="-25" i="1">
                <a:latin typeface="Verdana"/>
                <a:cs typeface="Verdana"/>
              </a:rPr>
              <a:t> </a:t>
            </a:r>
            <a:r>
              <a:rPr dirty="0" sz="1100" spc="-95">
                <a:latin typeface="Tahoma"/>
                <a:cs typeface="Tahoma"/>
              </a:rPr>
              <a:t>: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5">
                <a:latin typeface="Tahoma"/>
                <a:cs typeface="Tahoma"/>
              </a:rPr>
              <a:t>[</a:t>
            </a:r>
            <a:r>
              <a:rPr dirty="0" sz="1100" spc="-105" i="1">
                <a:latin typeface="Arial"/>
                <a:cs typeface="Arial"/>
              </a:rPr>
              <a:t>a</a:t>
            </a:r>
            <a:r>
              <a:rPr dirty="0" sz="1100" spc="-105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75" i="1">
                <a:latin typeface="Arial"/>
                <a:cs typeface="Arial"/>
              </a:rPr>
              <a:t>b</a:t>
            </a:r>
            <a:r>
              <a:rPr dirty="0" sz="1100" spc="-75">
                <a:latin typeface="Tahoma"/>
                <a:cs typeface="Tahoma"/>
              </a:rPr>
              <a:t>]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85">
                <a:latin typeface="Lucida Sans Unicode"/>
                <a:cs typeface="Lucida Sans Unicode"/>
              </a:rPr>
              <a:t>→</a:t>
            </a:r>
            <a:r>
              <a:rPr dirty="0" sz="1100" spc="-35">
                <a:latin typeface="Lucida Sans Unicode"/>
                <a:cs typeface="Lucida Sans Unicode"/>
              </a:rPr>
              <a:t>−</a:t>
            </a:r>
            <a:r>
              <a:rPr dirty="0" sz="1100" spc="200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E</a:t>
            </a:r>
            <a:r>
              <a:rPr dirty="0" sz="1100" spc="125" i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define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10">
                <a:latin typeface="Arial MT"/>
                <a:cs typeface="Arial MT"/>
              </a:rPr>
              <a:t>as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865" y="1392629"/>
            <a:ext cx="66929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 i="1">
                <a:latin typeface="Arial"/>
                <a:cs typeface="Arial"/>
              </a:rPr>
              <a:t>L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Verdana"/>
                <a:cs typeface="Verdana"/>
              </a:rPr>
              <a:t>γ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0">
                <a:latin typeface="Tahoma"/>
                <a:cs typeface="Tahoma"/>
              </a:rPr>
              <a:t>sup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7183" y="1155724"/>
            <a:ext cx="137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9">
                <a:latin typeface="Lucida Sans Unicode"/>
                <a:cs typeface="Lucida Sans Unicode"/>
              </a:rPr>
              <a:t>(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01534" y="1256778"/>
            <a:ext cx="22034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5" i="1">
                <a:latin typeface="Arial"/>
                <a:cs typeface="Arial"/>
              </a:rPr>
              <a:t>n</a:t>
            </a:r>
            <a:r>
              <a:rPr dirty="0" sz="800" spc="-25">
                <a:latin typeface="Lucida Sans Unicode"/>
                <a:cs typeface="Lucida Sans Unicode"/>
              </a:rPr>
              <a:t>−</a:t>
            </a:r>
            <a:r>
              <a:rPr dirty="0" sz="800" spc="-25"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8791" y="1261019"/>
            <a:ext cx="2133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650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6593" y="1392629"/>
            <a:ext cx="270065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65" i="1">
                <a:latin typeface="Arial"/>
                <a:cs typeface="Arial"/>
              </a:rPr>
              <a:t>d</a:t>
            </a:r>
            <a:r>
              <a:rPr dirty="0" sz="1100" spc="-19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Verdana"/>
                <a:cs typeface="Verdana"/>
              </a:rPr>
              <a:t>γ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-120" i="1">
                <a:latin typeface="Arial"/>
                <a:cs typeface="Arial"/>
              </a:rPr>
              <a:t> </a:t>
            </a:r>
            <a:r>
              <a:rPr dirty="0" sz="1100" spc="-60">
                <a:latin typeface="Tahoma"/>
                <a:cs typeface="Tahoma"/>
              </a:rPr>
              <a:t>)</a:t>
            </a:r>
            <a:r>
              <a:rPr dirty="0" sz="1100" spc="-60" i="1">
                <a:latin typeface="Verdana"/>
                <a:cs typeface="Verdana"/>
              </a:rPr>
              <a:t>,</a:t>
            </a:r>
            <a:r>
              <a:rPr dirty="0" sz="1100" spc="-185" i="1">
                <a:latin typeface="Verdana"/>
                <a:cs typeface="Verdana"/>
              </a:rPr>
              <a:t> </a:t>
            </a:r>
            <a:r>
              <a:rPr dirty="0" sz="1100" i="1">
                <a:latin typeface="Verdana"/>
                <a:cs typeface="Verdana"/>
              </a:rPr>
              <a:t>γ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 i="1">
                <a:latin typeface="Arial"/>
                <a:cs typeface="Arial"/>
              </a:rPr>
              <a:t>i</a:t>
            </a:r>
            <a:r>
              <a:rPr dirty="0" baseline="-10416" sz="1200" spc="-209" i="1">
                <a:latin typeface="Arial"/>
                <a:cs typeface="Arial"/>
              </a:rPr>
              <a:t> </a:t>
            </a:r>
            <a:r>
              <a:rPr dirty="0" baseline="-10416" sz="1200">
                <a:latin typeface="Lucida Sans Unicode"/>
                <a:cs typeface="Lucida Sans Unicode"/>
              </a:rPr>
              <a:t>+</a:t>
            </a:r>
            <a:r>
              <a:rPr dirty="0" baseline="-10416" sz="1200">
                <a:latin typeface="Arial MT"/>
                <a:cs typeface="Arial MT"/>
              </a:rPr>
              <a:t>1</a:t>
            </a:r>
            <a:r>
              <a:rPr dirty="0" sz="1100">
                <a:latin typeface="Tahoma"/>
                <a:cs typeface="Tahoma"/>
              </a:rPr>
              <a:t>))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: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0" i="1">
                <a:latin typeface="Arial"/>
                <a:cs typeface="Arial"/>
              </a:rPr>
              <a:t>a</a:t>
            </a:r>
            <a:r>
              <a:rPr dirty="0" sz="1100" spc="4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>
                <a:latin typeface="Arial MT"/>
                <a:cs typeface="Arial MT"/>
              </a:rPr>
              <a:t>0</a:t>
            </a:r>
            <a:r>
              <a:rPr dirty="0" baseline="-10416" sz="1200" spc="254">
                <a:latin typeface="Arial MT"/>
                <a:cs typeface="Arial MT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50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>
                <a:latin typeface="Arial MT"/>
                <a:cs typeface="Arial MT"/>
              </a:rPr>
              <a:t>1</a:t>
            </a:r>
            <a:r>
              <a:rPr dirty="0" baseline="-10416" sz="1200" spc="254">
                <a:latin typeface="Arial MT"/>
                <a:cs typeface="Arial MT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55" i="1">
                <a:latin typeface="Verdana"/>
                <a:cs typeface="Verdana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5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40">
                <a:latin typeface="Lucida Sans Unicode"/>
                <a:cs typeface="Lucida Sans Unicode"/>
              </a:rPr>
              <a:t> </a:t>
            </a:r>
            <a:r>
              <a:rPr dirty="0" sz="1100" spc="-400">
                <a:latin typeface="Lucida Sans Unicode"/>
                <a:cs typeface="Lucida Sans Unicode"/>
              </a:rPr>
              <a:t>·</a:t>
            </a:r>
            <a:r>
              <a:rPr dirty="0" sz="1100" spc="-15">
                <a:latin typeface="Lucida Sans Unicode"/>
                <a:cs typeface="Lucida Sans Unicode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50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t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77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50131" y="1155724"/>
            <a:ext cx="1371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459">
                <a:latin typeface="Lucida Sans Unicode"/>
                <a:cs typeface="Lucida Sans Unicode"/>
              </a:rPr>
              <a:t>)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099820">
              <a:lnSpc>
                <a:spcPct val="100000"/>
              </a:lnSpc>
              <a:spcBef>
                <a:spcPts val="95"/>
              </a:spcBef>
            </a:pPr>
            <a:r>
              <a:rPr dirty="0" i="1"/>
              <a:t>i</a:t>
            </a:r>
            <a:r>
              <a:rPr dirty="0" spc="-120" i="1"/>
              <a:t> </a:t>
            </a:r>
            <a:r>
              <a:rPr dirty="0" spc="-25">
                <a:latin typeface="Lucida Sans Unicode"/>
                <a:cs typeface="Lucida Sans Unicode"/>
              </a:rPr>
              <a:t>=</a:t>
            </a:r>
            <a:r>
              <a:rPr dirty="0" spc="-25">
                <a:latin typeface="Arial MT"/>
                <a:cs typeface="Arial MT"/>
              </a:rPr>
              <a:t>0</a:t>
            </a:r>
          </a:p>
          <a:p>
            <a:pPr marL="12700" marR="5080">
              <a:lnSpc>
                <a:spcPct val="102600"/>
              </a:lnSpc>
              <a:spcBef>
                <a:spcPts val="805"/>
              </a:spcBef>
            </a:pPr>
            <a:r>
              <a:rPr dirty="0" sz="1100" spc="-75">
                <a:latin typeface="Arial MT"/>
                <a:cs typeface="Arial MT"/>
              </a:rPr>
              <a:t>where</a:t>
            </a:r>
            <a:r>
              <a:rPr dirty="0" sz="1100">
                <a:latin typeface="Arial MT"/>
                <a:cs typeface="Arial MT"/>
              </a:rPr>
              <a:t> the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supremum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taken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over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possible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finite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partitions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interval</a:t>
            </a:r>
            <a:r>
              <a:rPr dirty="0" sz="1100" spc="-50">
                <a:latin typeface="Arial MT"/>
                <a:cs typeface="Arial MT"/>
              </a:rPr>
              <a:t> </a:t>
            </a:r>
            <a:r>
              <a:rPr dirty="0" sz="1100" spc="-105">
                <a:latin typeface="Tahoma"/>
                <a:cs typeface="Tahoma"/>
              </a:rPr>
              <a:t>[</a:t>
            </a:r>
            <a:r>
              <a:rPr dirty="0" sz="1100" spc="-105" i="1"/>
              <a:t>a</a:t>
            </a:r>
            <a:r>
              <a:rPr dirty="0" sz="1100" spc="-105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/>
              <a:t>b</a:t>
            </a:r>
            <a:r>
              <a:rPr dirty="0" sz="1100">
                <a:latin typeface="Tahoma"/>
                <a:cs typeface="Tahoma"/>
              </a:rPr>
              <a:t>]</a:t>
            </a:r>
            <a:r>
              <a:rPr dirty="0" sz="1100">
                <a:latin typeface="Arial MT"/>
                <a:cs typeface="Arial MT"/>
              </a:rPr>
              <a:t>.</a:t>
            </a:r>
            <a:r>
              <a:rPr dirty="0" sz="1100" spc="10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curve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said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be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 b="1">
                <a:latin typeface="Arial"/>
                <a:cs typeface="Arial"/>
              </a:rPr>
              <a:t>rectifiable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if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 i="1"/>
              <a:t>L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Verdana"/>
                <a:cs typeface="Verdana"/>
              </a:rPr>
              <a:t>γ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85" i="1">
                <a:latin typeface="Verdana"/>
                <a:cs typeface="Verdana"/>
              </a:rPr>
              <a:t> </a:t>
            </a:r>
            <a:r>
              <a:rPr dirty="0" sz="1100" spc="-25">
                <a:latin typeface="Lucida Sans Unicode"/>
                <a:cs typeface="Lucida Sans Unicode"/>
              </a:rPr>
              <a:t>∞</a:t>
            </a:r>
            <a:r>
              <a:rPr dirty="0" sz="1100" spc="-25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100" spc="-10">
                <a:latin typeface="Arial MT"/>
                <a:cs typeface="Arial MT"/>
              </a:rPr>
              <a:t>The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problem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can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be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stated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10">
                <a:latin typeface="Arial MT"/>
                <a:cs typeface="Arial MT"/>
              </a:rPr>
              <a:t>as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follows: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02855" y="2613214"/>
            <a:ext cx="300291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Tahoma"/>
                <a:cs typeface="Tahoma"/>
              </a:rPr>
              <a:t>min</a:t>
            </a:r>
            <a:r>
              <a:rPr dirty="0" sz="1100">
                <a:latin typeface="Lucida Sans Unicode"/>
                <a:cs typeface="Lucida Sans Unicode"/>
              </a:rPr>
              <a:t>{</a:t>
            </a:r>
            <a:r>
              <a:rPr dirty="0" sz="1100" i="1">
                <a:latin typeface="Arial"/>
                <a:cs typeface="Arial"/>
              </a:rPr>
              <a:t>L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Verdana"/>
                <a:cs typeface="Verdana"/>
              </a:rPr>
              <a:t>γ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90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γ</a:t>
            </a:r>
            <a:r>
              <a:rPr dirty="0" sz="1100" spc="-25" i="1">
                <a:latin typeface="Verdana"/>
                <a:cs typeface="Verdana"/>
              </a:rPr>
              <a:t> </a:t>
            </a:r>
            <a:r>
              <a:rPr dirty="0" sz="1100" spc="-155">
                <a:latin typeface="Lucida Sans Unicode"/>
                <a:cs typeface="Lucida Sans Unicode"/>
              </a:rPr>
              <a:t>∈</a:t>
            </a:r>
            <a:r>
              <a:rPr dirty="0" sz="1100" spc="-45">
                <a:latin typeface="Lucida Sans Unicode"/>
                <a:cs typeface="Lucida Sans Unicode"/>
              </a:rPr>
              <a:t> </a:t>
            </a:r>
            <a:r>
              <a:rPr dirty="0" sz="1100" spc="-55" i="1">
                <a:latin typeface="Arial"/>
                <a:cs typeface="Arial"/>
              </a:rPr>
              <a:t>Lip</a:t>
            </a:r>
            <a:r>
              <a:rPr dirty="0" sz="1100" spc="-55">
                <a:latin typeface="Tahoma"/>
                <a:cs typeface="Tahoma"/>
              </a:rPr>
              <a:t>([</a:t>
            </a:r>
            <a:r>
              <a:rPr dirty="0" sz="1100" spc="-55" i="1">
                <a:latin typeface="Arial"/>
                <a:cs typeface="Arial"/>
              </a:rPr>
              <a:t>a</a:t>
            </a:r>
            <a:r>
              <a:rPr dirty="0" sz="1100" spc="-55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80" i="1">
                <a:latin typeface="Arial"/>
                <a:cs typeface="Arial"/>
              </a:rPr>
              <a:t>b</a:t>
            </a:r>
            <a:r>
              <a:rPr dirty="0" sz="1100" spc="-80">
                <a:latin typeface="Tahoma"/>
                <a:cs typeface="Tahoma"/>
              </a:rPr>
              <a:t>]</a:t>
            </a:r>
            <a:r>
              <a:rPr dirty="0" sz="1100" spc="-8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95" i="1">
                <a:latin typeface="Arial"/>
                <a:cs typeface="Arial"/>
              </a:rPr>
              <a:t>E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155" i="1">
                <a:latin typeface="Verdana"/>
                <a:cs typeface="Verdana"/>
              </a:rPr>
              <a:t> </a:t>
            </a:r>
            <a:r>
              <a:rPr dirty="0" sz="1100" spc="-35" i="1">
                <a:latin typeface="Verdana"/>
                <a:cs typeface="Verdana"/>
              </a:rPr>
              <a:t>γ</a:t>
            </a:r>
            <a:r>
              <a:rPr dirty="0" sz="1100" spc="-35">
                <a:latin typeface="Tahoma"/>
                <a:cs typeface="Tahoma"/>
              </a:rPr>
              <a:t>(</a:t>
            </a:r>
            <a:r>
              <a:rPr dirty="0" sz="1100" spc="-35" i="1">
                <a:latin typeface="Arial"/>
                <a:cs typeface="Arial"/>
              </a:rPr>
              <a:t>a</a:t>
            </a:r>
            <a:r>
              <a:rPr dirty="0" sz="1100" spc="-35">
                <a:latin typeface="Tahoma"/>
                <a:cs typeface="Tahoma"/>
              </a:rPr>
              <a:t>)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155" i="1">
                <a:latin typeface="Verdana"/>
                <a:cs typeface="Verdana"/>
              </a:rPr>
              <a:t> </a:t>
            </a:r>
            <a:r>
              <a:rPr dirty="0" sz="1100" spc="-10" i="1">
                <a:latin typeface="Verdana"/>
                <a:cs typeface="Verdana"/>
              </a:rPr>
              <a:t>γ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13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81735" y="2613214"/>
            <a:ext cx="2019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Arial MT"/>
                <a:cs typeface="Arial MT"/>
              </a:rPr>
              <a:t>(1)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20" name="object 20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0"/>
              <a:t>Existence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50"/>
              <a:t>parametric</a:t>
            </a:r>
            <a:r>
              <a:rPr dirty="0" spc="-35"/>
              <a:t> </a:t>
            </a:r>
            <a:r>
              <a:rPr dirty="0" spc="-55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86854" y="675881"/>
            <a:ext cx="4434840" cy="215265"/>
          </a:xfrm>
          <a:custGeom>
            <a:avLst/>
            <a:gdLst/>
            <a:ahLst/>
            <a:cxnLst/>
            <a:rect l="l" t="t" r="r" b="b"/>
            <a:pathLst>
              <a:path w="4434840" h="21526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01"/>
                </a:lnTo>
                <a:lnTo>
                  <a:pt x="4434338" y="215201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874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7655" y="691935"/>
            <a:ext cx="3103245" cy="184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70">
                <a:solidFill>
                  <a:srgbClr val="FFFFFF"/>
                </a:solidFill>
                <a:latin typeface="Arial MT"/>
                <a:cs typeface="Arial MT"/>
              </a:rPr>
              <a:t>Theorem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20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 MT"/>
                <a:cs typeface="Arial MT"/>
              </a:rPr>
              <a:t>(Existence</a:t>
            </a:r>
            <a:r>
              <a:rPr dirty="0" sz="12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2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2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parametric</a:t>
            </a: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Arial MT"/>
                <a:cs typeface="Arial MT"/>
              </a:rPr>
              <a:t>problem)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854" y="732814"/>
            <a:ext cx="4485640" cy="782955"/>
            <a:chOff x="86854" y="732814"/>
            <a:chExt cx="4485640" cy="78295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54" y="878433"/>
              <a:ext cx="4434338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7655" y="732814"/>
              <a:ext cx="4434840" cy="782955"/>
            </a:xfrm>
            <a:custGeom>
              <a:avLst/>
              <a:gdLst/>
              <a:ahLst/>
              <a:cxnLst/>
              <a:rect l="l" t="t" r="r" b="b"/>
              <a:pathLst>
                <a:path w="4434840" h="782955">
                  <a:moveTo>
                    <a:pt x="4434338" y="0"/>
                  </a:moveTo>
                  <a:lnTo>
                    <a:pt x="0" y="0"/>
                  </a:lnTo>
                  <a:lnTo>
                    <a:pt x="0" y="782627"/>
                  </a:lnTo>
                  <a:lnTo>
                    <a:pt x="4434338" y="782627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54" y="922710"/>
              <a:ext cx="4434840" cy="542290"/>
            </a:xfrm>
            <a:custGeom>
              <a:avLst/>
              <a:gdLst/>
              <a:ahLst/>
              <a:cxnLst/>
              <a:rect l="l" t="t" r="r" b="b"/>
              <a:pathLst>
                <a:path w="4434840" h="542290">
                  <a:moveTo>
                    <a:pt x="4434338" y="0"/>
                  </a:moveTo>
                  <a:lnTo>
                    <a:pt x="0" y="0"/>
                  </a:lnTo>
                  <a:lnTo>
                    <a:pt x="0" y="491130"/>
                  </a:lnTo>
                  <a:lnTo>
                    <a:pt x="4008" y="510854"/>
                  </a:lnTo>
                  <a:lnTo>
                    <a:pt x="14922" y="527007"/>
                  </a:lnTo>
                  <a:lnTo>
                    <a:pt x="31075" y="537921"/>
                  </a:lnTo>
                  <a:lnTo>
                    <a:pt x="50800" y="541930"/>
                  </a:lnTo>
                  <a:lnTo>
                    <a:pt x="4383537" y="541930"/>
                  </a:lnTo>
                  <a:lnTo>
                    <a:pt x="4403262" y="537921"/>
                  </a:lnTo>
                  <a:lnTo>
                    <a:pt x="4419415" y="527007"/>
                  </a:lnTo>
                  <a:lnTo>
                    <a:pt x="4430329" y="510854"/>
                  </a:lnTo>
                  <a:lnTo>
                    <a:pt x="4434338" y="491130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F3EDF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212" y="1829600"/>
            <a:ext cx="65265" cy="6526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0212" y="2039632"/>
            <a:ext cx="65265" cy="6526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156470" y="2387890"/>
            <a:ext cx="2997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 i="1">
                <a:latin typeface="Arial"/>
                <a:cs typeface="Arial"/>
              </a:rPr>
              <a:t>x</a:t>
            </a:r>
            <a:r>
              <a:rPr dirty="0" sz="800" spc="-145" i="1">
                <a:latin typeface="Arial"/>
                <a:cs typeface="Arial"/>
              </a:rPr>
              <a:t> </a:t>
            </a:r>
            <a:r>
              <a:rPr dirty="0" sz="800" spc="65">
                <a:latin typeface="Lucida Sans Unicode"/>
                <a:cs typeface="Lucida Sans Unicode"/>
              </a:rPr>
              <a:t>→∞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155" y="897876"/>
            <a:ext cx="4523740" cy="15614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90"/>
              </a:spcBef>
            </a:pPr>
            <a:r>
              <a:rPr dirty="0" sz="1100" spc="-90">
                <a:latin typeface="Arial MT"/>
                <a:cs typeface="Arial MT"/>
              </a:rPr>
              <a:t>Suppose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E</a:t>
            </a:r>
            <a:r>
              <a:rPr dirty="0" sz="1100" spc="65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i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40">
                <a:latin typeface="Arial MT"/>
                <a:cs typeface="Arial MT"/>
              </a:rPr>
              <a:t>s</a:t>
            </a:r>
            <a:r>
              <a:rPr dirty="0" sz="1100" spc="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compact</a:t>
            </a:r>
            <a:r>
              <a:rPr dirty="0" sz="1100" spc="-10">
                <a:latin typeface="Arial MT"/>
                <a:cs typeface="Arial MT"/>
              </a:rPr>
              <a:t> metric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space.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minimum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problem</a:t>
            </a:r>
            <a:endParaRPr sz="1100">
              <a:latin typeface="Arial MT"/>
              <a:cs typeface="Arial MT"/>
            </a:endParaRPr>
          </a:p>
          <a:p>
            <a:pPr marL="63500" marR="749300">
              <a:lnSpc>
                <a:spcPct val="102600"/>
              </a:lnSpc>
            </a:pPr>
            <a:r>
              <a:rPr dirty="0" sz="1100">
                <a:latin typeface="Arial MT"/>
                <a:cs typeface="Arial MT"/>
              </a:rPr>
              <a:t>(1)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admits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solution,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provided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class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Lipschitz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curves </a:t>
            </a:r>
            <a:r>
              <a:rPr dirty="0" sz="1100" spc="-50">
                <a:latin typeface="Arial MT"/>
                <a:cs typeface="Arial MT"/>
              </a:rPr>
              <a:t>connecting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x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y</a:t>
            </a:r>
            <a:r>
              <a:rPr dirty="0" sz="1100" spc="-10">
                <a:latin typeface="Arial MT"/>
                <a:cs typeface="Arial MT"/>
              </a:rPr>
              <a:t> is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not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empty.</a:t>
            </a:r>
            <a:endParaRPr sz="11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994"/>
              </a:spcBef>
            </a:pPr>
            <a:r>
              <a:rPr dirty="0" sz="1100" spc="-60">
                <a:latin typeface="Arial MT"/>
                <a:cs typeface="Arial MT"/>
              </a:rPr>
              <a:t>Idea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proof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340360" marR="1980564">
              <a:lnSpc>
                <a:spcPct val="125299"/>
              </a:lnSpc>
            </a:pPr>
            <a:r>
              <a:rPr dirty="0" sz="1100">
                <a:latin typeface="Arial MT"/>
                <a:cs typeface="Arial MT"/>
              </a:rPr>
              <a:t>Let</a:t>
            </a:r>
            <a:r>
              <a:rPr dirty="0" sz="1100" spc="-35">
                <a:latin typeface="Arial MT"/>
                <a:cs typeface="Arial MT"/>
              </a:rPr>
              <a:t> be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infimum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problem, </a:t>
            </a:r>
            <a:r>
              <a:rPr dirty="0" sz="1100" spc="-65">
                <a:latin typeface="Arial MT"/>
                <a:cs typeface="Arial MT"/>
              </a:rPr>
              <a:t>Take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minimizing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sequence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i="1">
                <a:latin typeface="Verdana"/>
                <a:cs typeface="Verdana"/>
              </a:rPr>
              <a:t>γ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195" i="1">
                <a:latin typeface="Arial"/>
                <a:cs typeface="Arial"/>
              </a:rPr>
              <a:t>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algn="ctr" marL="213360">
              <a:lnSpc>
                <a:spcPct val="100000"/>
              </a:lnSpc>
              <a:spcBef>
                <a:spcPts val="1130"/>
              </a:spcBef>
            </a:pPr>
            <a:r>
              <a:rPr dirty="0" sz="1100" i="1">
                <a:latin typeface="Verdana"/>
                <a:cs typeface="Verdana"/>
              </a:rPr>
              <a:t>γ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142" i="1">
                <a:latin typeface="Arial"/>
                <a:cs typeface="Arial"/>
              </a:rPr>
              <a:t> </a:t>
            </a:r>
            <a:r>
              <a:rPr dirty="0" sz="1100" spc="-90">
                <a:latin typeface="Tahoma"/>
                <a:cs typeface="Tahoma"/>
              </a:rPr>
              <a:t>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5">
                <a:latin typeface="Tahoma"/>
                <a:cs typeface="Tahoma"/>
              </a:rPr>
              <a:t>[</a:t>
            </a:r>
            <a:r>
              <a:rPr dirty="0" sz="1100" spc="-105" i="1">
                <a:latin typeface="Arial"/>
                <a:cs typeface="Arial"/>
              </a:rPr>
              <a:t>a</a:t>
            </a:r>
            <a:r>
              <a:rPr dirty="0" sz="1100" spc="-105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75" i="1">
                <a:latin typeface="Arial"/>
                <a:cs typeface="Arial"/>
              </a:rPr>
              <a:t>b</a:t>
            </a:r>
            <a:r>
              <a:rPr dirty="0" sz="1100" spc="-75">
                <a:latin typeface="Tahoma"/>
                <a:cs typeface="Tahoma"/>
              </a:rPr>
              <a:t>]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865">
                <a:latin typeface="Lucida Sans Unicode"/>
                <a:cs typeface="Lucida Sans Unicode"/>
              </a:rPr>
              <a:t>−</a:t>
            </a:r>
            <a:r>
              <a:rPr dirty="0" sz="1100" spc="25">
                <a:latin typeface="Lucida Sans Unicode"/>
                <a:cs typeface="Lucida Sans Unicode"/>
              </a:rPr>
              <a:t>→</a:t>
            </a:r>
            <a:r>
              <a:rPr dirty="0" sz="1100" spc="-4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E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135" i="1">
                <a:latin typeface="Verdana"/>
                <a:cs typeface="Verdana"/>
              </a:rPr>
              <a:t> </a:t>
            </a:r>
            <a:r>
              <a:rPr dirty="0" sz="1100" spc="-25" i="1">
                <a:latin typeface="Verdana"/>
                <a:cs typeface="Verdana"/>
              </a:rPr>
              <a:t>γ</a:t>
            </a:r>
            <a:r>
              <a:rPr dirty="0" baseline="-10416" sz="1200" spc="-37" i="1">
                <a:latin typeface="Arial"/>
                <a:cs typeface="Arial"/>
              </a:rPr>
              <a:t>n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a</a:t>
            </a:r>
            <a:r>
              <a:rPr dirty="0" sz="1100" spc="-25">
                <a:latin typeface="Tahoma"/>
                <a:cs typeface="Tahoma"/>
              </a:rPr>
              <a:t>)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135" i="1">
                <a:latin typeface="Verdana"/>
                <a:cs typeface="Verdana"/>
              </a:rPr>
              <a:t> </a:t>
            </a:r>
            <a:r>
              <a:rPr dirty="0" sz="1100" spc="-10" i="1">
                <a:latin typeface="Verdana"/>
                <a:cs typeface="Verdana"/>
              </a:rPr>
              <a:t>γ</a:t>
            </a:r>
            <a:r>
              <a:rPr dirty="0" baseline="-10416" sz="1200" spc="-15" i="1">
                <a:latin typeface="Arial"/>
                <a:cs typeface="Arial"/>
              </a:rPr>
              <a:t>n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b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y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60" i="1">
                <a:latin typeface="Verdana"/>
                <a:cs typeface="Verdana"/>
              </a:rPr>
              <a:t>  </a:t>
            </a:r>
            <a:r>
              <a:rPr dirty="0" sz="1100">
                <a:latin typeface="Tahoma"/>
                <a:cs typeface="Tahoma"/>
              </a:rPr>
              <a:t>lim</a:t>
            </a:r>
            <a:r>
              <a:rPr dirty="0" sz="1100" spc="204">
                <a:latin typeface="Tahoma"/>
                <a:cs typeface="Tahoma"/>
              </a:rPr>
              <a:t> </a:t>
            </a:r>
            <a:r>
              <a:rPr dirty="0" sz="1100" spc="-10" i="1">
                <a:latin typeface="Arial"/>
                <a:cs typeface="Arial"/>
              </a:rPr>
              <a:t>L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Verdana"/>
                <a:cs typeface="Verdana"/>
              </a:rPr>
              <a:t>γ</a:t>
            </a:r>
            <a:r>
              <a:rPr dirty="0" baseline="-10416" sz="1200" spc="-15" i="1">
                <a:latin typeface="Arial"/>
                <a:cs typeface="Arial"/>
              </a:rPr>
              <a:t>n</a:t>
            </a:r>
            <a:r>
              <a:rPr dirty="0" sz="1100" spc="-10">
                <a:latin typeface="Tahoma"/>
                <a:cs typeface="Tahoma"/>
              </a:rPr>
              <a:t>)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50" i="1">
                <a:latin typeface="Arial"/>
                <a:cs typeface="Arial"/>
              </a:rPr>
              <a:t>L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0212" y="2700807"/>
            <a:ext cx="65265" cy="6526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76656" y="2573589"/>
            <a:ext cx="3576954" cy="445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>
              <a:lnSpc>
                <a:spcPct val="125299"/>
              </a:lnSpc>
              <a:spcBef>
                <a:spcPts val="100"/>
              </a:spcBef>
            </a:pPr>
            <a:r>
              <a:rPr dirty="0" sz="1100" spc="-85">
                <a:latin typeface="Arial MT"/>
                <a:cs typeface="Arial MT"/>
              </a:rPr>
              <a:t>Show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i="1">
                <a:latin typeface="Verdana"/>
                <a:cs typeface="Verdana"/>
              </a:rPr>
              <a:t>γ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17" i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equiontinuous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reparametrisation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theorem, </a:t>
            </a:r>
            <a:r>
              <a:rPr dirty="0" sz="1100" spc="-110">
                <a:latin typeface="Arial MT"/>
                <a:cs typeface="Arial MT"/>
              </a:rPr>
              <a:t>Use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Ascoli-</a:t>
            </a:r>
            <a:r>
              <a:rPr dirty="0" sz="1100" spc="-40">
                <a:latin typeface="Arial MT"/>
                <a:cs typeface="Arial MT"/>
              </a:rPr>
              <a:t>Arzéla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theorem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conclude.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0212" y="2910840"/>
            <a:ext cx="65265" cy="65265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17" name="object 17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5715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90"/>
              <a:t> </a:t>
            </a:r>
            <a:r>
              <a:rPr dirty="0" spc="-3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Formulation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35"/>
              <a:t> </a:t>
            </a:r>
            <a:r>
              <a:rPr dirty="0"/>
              <a:t>the</a:t>
            </a:r>
            <a:r>
              <a:rPr dirty="0" spc="-30"/>
              <a:t> </a:t>
            </a:r>
            <a:r>
              <a:rPr dirty="0" spc="-20"/>
              <a:t>intrinsic</a:t>
            </a:r>
            <a:r>
              <a:rPr dirty="0" spc="-35"/>
              <a:t> </a:t>
            </a:r>
            <a:r>
              <a:rPr dirty="0" spc="-50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86854" y="589190"/>
            <a:ext cx="4434840" cy="193675"/>
          </a:xfrm>
          <a:custGeom>
            <a:avLst/>
            <a:gdLst/>
            <a:ahLst/>
            <a:cxnLst/>
            <a:rect l="l" t="t" r="r" b="b"/>
            <a:pathLst>
              <a:path w="4434840" h="19367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3069"/>
                </a:lnTo>
                <a:lnTo>
                  <a:pt x="4434338" y="193069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57D5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7655" y="602082"/>
            <a:ext cx="694055" cy="184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Definition</a:t>
            </a:r>
            <a:r>
              <a:rPr dirty="0" sz="120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854" y="646105"/>
            <a:ext cx="4485640" cy="1679575"/>
            <a:chOff x="86854" y="646105"/>
            <a:chExt cx="4485640" cy="16795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54" y="769607"/>
              <a:ext cx="4434338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7655" y="646105"/>
              <a:ext cx="4434840" cy="1679575"/>
            </a:xfrm>
            <a:custGeom>
              <a:avLst/>
              <a:gdLst/>
              <a:ahLst/>
              <a:cxnLst/>
              <a:rect l="l" t="t" r="r" b="b"/>
              <a:pathLst>
                <a:path w="4434840" h="1679575">
                  <a:moveTo>
                    <a:pt x="4434338" y="0"/>
                  </a:moveTo>
                  <a:lnTo>
                    <a:pt x="0" y="0"/>
                  </a:lnTo>
                  <a:lnTo>
                    <a:pt x="0" y="1679150"/>
                  </a:lnTo>
                  <a:lnTo>
                    <a:pt x="4434338" y="1679150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54" y="813869"/>
              <a:ext cx="4434840" cy="1461135"/>
            </a:xfrm>
            <a:custGeom>
              <a:avLst/>
              <a:gdLst/>
              <a:ahLst/>
              <a:cxnLst/>
              <a:rect l="l" t="t" r="r" b="b"/>
              <a:pathLst>
                <a:path w="4434840" h="1461135">
                  <a:moveTo>
                    <a:pt x="4434338" y="0"/>
                  </a:moveTo>
                  <a:lnTo>
                    <a:pt x="0" y="0"/>
                  </a:lnTo>
                  <a:lnTo>
                    <a:pt x="0" y="1409786"/>
                  </a:lnTo>
                  <a:lnTo>
                    <a:pt x="4008" y="1429510"/>
                  </a:lnTo>
                  <a:lnTo>
                    <a:pt x="14922" y="1445663"/>
                  </a:lnTo>
                  <a:lnTo>
                    <a:pt x="31075" y="1456578"/>
                  </a:lnTo>
                  <a:lnTo>
                    <a:pt x="50800" y="1460586"/>
                  </a:lnTo>
                  <a:lnTo>
                    <a:pt x="4383537" y="1460586"/>
                  </a:lnTo>
                  <a:lnTo>
                    <a:pt x="4403262" y="1456578"/>
                  </a:lnTo>
                  <a:lnTo>
                    <a:pt x="4419415" y="1445663"/>
                  </a:lnTo>
                  <a:lnTo>
                    <a:pt x="4430329" y="1429510"/>
                  </a:lnTo>
                  <a:lnTo>
                    <a:pt x="4434338" y="1409786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EEFA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9555" y="804455"/>
            <a:ext cx="4213860" cy="3638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H</a:t>
            </a:r>
            <a:r>
              <a:rPr dirty="0" baseline="27777" sz="1200">
                <a:latin typeface="Arial MT"/>
                <a:cs typeface="Arial MT"/>
              </a:rPr>
              <a:t>1</a:t>
            </a:r>
            <a:r>
              <a:rPr dirty="0" baseline="27777" sz="1200" spc="232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denotes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1-</a:t>
            </a:r>
            <a:r>
              <a:rPr dirty="0" sz="1100" spc="-60">
                <a:latin typeface="Arial MT"/>
                <a:cs typeface="Arial MT"/>
              </a:rPr>
              <a:t>dimensional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Haudorff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measure,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define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every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subset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60" i="1">
                <a:latin typeface="Arial"/>
                <a:cs typeface="Arial"/>
              </a:rPr>
              <a:t> </a:t>
            </a:r>
            <a:r>
              <a:rPr dirty="0" sz="1100" spc="-155">
                <a:latin typeface="Lucida Sans Unicode"/>
                <a:cs typeface="Lucida Sans Unicode"/>
              </a:rPr>
              <a:t>∈</a:t>
            </a:r>
            <a:r>
              <a:rPr dirty="0" sz="1100" spc="-4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E</a:t>
            </a:r>
            <a:r>
              <a:rPr dirty="0" sz="1100" spc="135" i="1">
                <a:latin typeface="Arial"/>
                <a:cs typeface="Arial"/>
              </a:rPr>
              <a:t> </a:t>
            </a:r>
            <a:r>
              <a:rPr dirty="0" sz="1100" spc="-25">
                <a:latin typeface="Arial MT"/>
                <a:cs typeface="Arial MT"/>
              </a:rPr>
              <a:t>as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90343" y="1246389"/>
            <a:ext cx="3829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800" spc="70" i="1">
                <a:latin typeface="Sitka Text"/>
                <a:cs typeface="Sitka Text"/>
              </a:rPr>
              <a:t>δ</a:t>
            </a:r>
            <a:r>
              <a:rPr dirty="0" sz="1100" spc="-844">
                <a:latin typeface="Lucida Sans Unicode"/>
                <a:cs typeface="Lucida Sans Unicode"/>
              </a:rPr>
              <a:t>−</a:t>
            </a:r>
            <a:r>
              <a:rPr dirty="0" sz="1100" spc="45">
                <a:latin typeface="Lucida Sans Unicode"/>
                <a:cs typeface="Lucida Sans Unicode"/>
              </a:rPr>
              <a:t>→</a:t>
            </a:r>
            <a:r>
              <a:rPr dirty="0" sz="800" spc="45">
                <a:latin typeface="Arial MT"/>
                <a:cs typeface="Arial MT"/>
              </a:rPr>
              <a:t>0</a:t>
            </a:r>
            <a:r>
              <a:rPr dirty="0" baseline="23148" sz="900" spc="67">
                <a:latin typeface="Lucida Sans Unicode"/>
                <a:cs typeface="Lucida Sans Unicode"/>
              </a:rPr>
              <a:t>+</a:t>
            </a:r>
            <a:endParaRPr baseline="23148" sz="9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8587" y="1221192"/>
            <a:ext cx="730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Sitka Text"/>
                <a:cs typeface="Sitka Text"/>
              </a:rPr>
              <a:t>δ</a:t>
            </a:r>
            <a:endParaRPr sz="800">
              <a:latin typeface="Sitka Text"/>
              <a:cs typeface="Sitka Tex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27060" y="1148612"/>
            <a:ext cx="13538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Lucida Sans Unicode"/>
                <a:cs typeface="Lucida Sans Unicode"/>
              </a:rPr>
              <a:t>H</a:t>
            </a:r>
            <a:r>
              <a:rPr dirty="0" baseline="31250" sz="1200">
                <a:latin typeface="Arial MT"/>
                <a:cs typeface="Arial MT"/>
              </a:rPr>
              <a:t>1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100">
                <a:latin typeface="Tahoma"/>
                <a:cs typeface="Tahoma"/>
              </a:rPr>
              <a:t>  </a:t>
            </a:r>
            <a:r>
              <a:rPr dirty="0" sz="1100">
                <a:latin typeface="Tahoma"/>
                <a:cs typeface="Tahoma"/>
              </a:rPr>
              <a:t>lim</a:t>
            </a:r>
            <a:r>
              <a:rPr dirty="0" sz="1100" spc="420">
                <a:latin typeface="Tahoma"/>
                <a:cs typeface="Tahoma"/>
              </a:rPr>
              <a:t> </a:t>
            </a:r>
            <a:r>
              <a:rPr dirty="0" sz="1100" spc="-20">
                <a:latin typeface="Lucida Sans Unicode"/>
                <a:cs typeface="Lucida Sans Unicode"/>
              </a:rPr>
              <a:t>H</a:t>
            </a:r>
            <a:r>
              <a:rPr dirty="0" baseline="31250" sz="1200" spc="-30">
                <a:latin typeface="Arial MT"/>
                <a:cs typeface="Arial MT"/>
              </a:rPr>
              <a:t>1</a:t>
            </a:r>
            <a:r>
              <a:rPr dirty="0" sz="1100" spc="-20">
                <a:latin typeface="Tahoma"/>
                <a:cs typeface="Tahoma"/>
              </a:rPr>
              <a:t>(</a:t>
            </a:r>
            <a:r>
              <a:rPr dirty="0" sz="1100" spc="-20" i="1">
                <a:latin typeface="Arial"/>
                <a:cs typeface="Arial"/>
              </a:rPr>
              <a:t>A</a:t>
            </a:r>
            <a:r>
              <a:rPr dirty="0" sz="1100" spc="-2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1487" y="1551151"/>
            <a:ext cx="730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Sitka Text"/>
                <a:cs typeface="Sitka Text"/>
              </a:rPr>
              <a:t>δ</a:t>
            </a:r>
            <a:endParaRPr sz="800">
              <a:latin typeface="Sitka Text"/>
              <a:cs typeface="Sitka Tex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555" y="1471649"/>
            <a:ext cx="128333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75">
                <a:latin typeface="Arial MT"/>
                <a:cs typeface="Arial MT"/>
              </a:rPr>
              <a:t>where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H</a:t>
            </a:r>
            <a:r>
              <a:rPr dirty="0" baseline="27777" sz="1200">
                <a:latin typeface="Arial MT"/>
                <a:cs typeface="Arial MT"/>
              </a:rPr>
              <a:t>1</a:t>
            </a:r>
            <a:r>
              <a:rPr dirty="0" baseline="27777" sz="1200" spc="247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given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by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8504" y="1876398"/>
            <a:ext cx="7937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7171" y="1968854"/>
            <a:ext cx="730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Sitka Text"/>
                <a:cs typeface="Sitka Text"/>
              </a:rPr>
              <a:t>δ</a:t>
            </a:r>
            <a:endParaRPr sz="800">
              <a:latin typeface="Sitka Text"/>
              <a:cs typeface="Sitka Tex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05635" y="1760422"/>
            <a:ext cx="13335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40">
                <a:latin typeface="Lucida Sans Unicode"/>
                <a:cs typeface="Lucida Sans Unicode"/>
              </a:rPr>
              <a:t>∞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59344" y="1764663"/>
            <a:ext cx="22606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869">
                <a:latin typeface="Lucida Sans Unicode"/>
                <a:cs typeface="Lucida Sans Unicode"/>
              </a:rPr>
              <a:t>Σ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72882" y="2102255"/>
            <a:ext cx="1987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latin typeface="Arial"/>
                <a:cs typeface="Arial"/>
              </a:rPr>
              <a:t>i</a:t>
            </a:r>
            <a:r>
              <a:rPr dirty="0" sz="800" spc="-120" i="1">
                <a:latin typeface="Arial"/>
                <a:cs typeface="Arial"/>
              </a:rPr>
              <a:t> </a:t>
            </a:r>
            <a:r>
              <a:rPr dirty="0" sz="800" spc="-25">
                <a:latin typeface="Lucida Sans Unicode"/>
                <a:cs typeface="Lucida Sans Unicode"/>
              </a:rPr>
              <a:t>=</a:t>
            </a:r>
            <a:r>
              <a:rPr dirty="0" sz="800" spc="-25"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70166" y="1896273"/>
            <a:ext cx="14681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24890" algn="l"/>
              </a:tabLst>
            </a:pPr>
            <a:r>
              <a:rPr dirty="0" sz="1100" spc="105">
                <a:latin typeface="Lucida Sans Unicode"/>
                <a:cs typeface="Lucida Sans Unicode"/>
              </a:rPr>
              <a:t>H</a:t>
            </a:r>
            <a:r>
              <a:rPr dirty="0" sz="1100" spc="140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inf</a:t>
            </a:r>
            <a:r>
              <a:rPr dirty="0" sz="1100" spc="-20">
                <a:latin typeface="Lucida Sans Unicode"/>
                <a:cs typeface="Lucida Sans Unicode"/>
              </a:rPr>
              <a:t>{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spc="-25" i="1">
                <a:latin typeface="Arial"/>
                <a:cs typeface="Arial"/>
              </a:rPr>
              <a:t>diam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A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12594" y="1955240"/>
            <a:ext cx="5143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46883" y="1764663"/>
            <a:ext cx="17970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795">
                <a:latin typeface="Lucida Sans Unicode"/>
                <a:cs typeface="Lucida Sans Unicode"/>
              </a:rPr>
              <a:t>[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16275" y="1955240"/>
            <a:ext cx="6305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91820" algn="l"/>
              </a:tabLst>
            </a:pPr>
            <a:r>
              <a:rPr dirty="0" sz="800" spc="-50" i="1">
                <a:latin typeface="Arial"/>
                <a:cs typeface="Arial"/>
              </a:rPr>
              <a:t>i</a:t>
            </a:r>
            <a:r>
              <a:rPr dirty="0" sz="800" i="1">
                <a:latin typeface="Arial"/>
                <a:cs typeface="Arial"/>
              </a:rPr>
              <a:t>	</a:t>
            </a:r>
            <a:r>
              <a:rPr dirty="0" sz="800" spc="-50" i="1">
                <a:latin typeface="Arial"/>
                <a:cs typeface="Arial"/>
              </a:rPr>
              <a:t>i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54580" y="1896273"/>
            <a:ext cx="1783714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81355" algn="l"/>
              </a:tabLst>
            </a:pP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:</a:t>
            </a:r>
            <a:r>
              <a:rPr dirty="0" sz="1100" spc="270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spc="-50">
                <a:latin typeface="Lucida Sans Unicode"/>
                <a:cs typeface="Lucida Sans Unicode"/>
              </a:rPr>
              <a:t>⊆</a:t>
            </a:r>
            <a:r>
              <a:rPr dirty="0" sz="1100">
                <a:latin typeface="Lucida Sans Unicode"/>
                <a:cs typeface="Lucida Sans Unicode"/>
              </a:rPr>
              <a:t>	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30" i="1">
                <a:latin typeface="Arial"/>
                <a:cs typeface="Arial"/>
              </a:rPr>
              <a:t> 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110" i="1">
                <a:latin typeface="Verdana"/>
                <a:cs typeface="Verdana"/>
              </a:rPr>
              <a:t> </a:t>
            </a:r>
            <a:r>
              <a:rPr dirty="0" sz="1100" spc="-25" i="1">
                <a:latin typeface="Arial"/>
                <a:cs typeface="Arial"/>
              </a:rPr>
              <a:t>diam</a:t>
            </a:r>
            <a:r>
              <a:rPr dirty="0" sz="1100" spc="-25">
                <a:latin typeface="Tahoma"/>
                <a:cs typeface="Tahoma"/>
              </a:rPr>
              <a:t>(</a:t>
            </a:r>
            <a:r>
              <a:rPr dirty="0" sz="1100" spc="-25" i="1">
                <a:latin typeface="Arial"/>
                <a:cs typeface="Arial"/>
              </a:rPr>
              <a:t>A</a:t>
            </a:r>
            <a:r>
              <a:rPr dirty="0" sz="1100" spc="-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85" i="1">
                <a:latin typeface="Verdana"/>
                <a:cs typeface="Verdana"/>
              </a:rPr>
              <a:t> </a:t>
            </a:r>
            <a:r>
              <a:rPr dirty="0" sz="1100" spc="-25" i="1">
                <a:latin typeface="Verdana"/>
                <a:cs typeface="Verdana"/>
              </a:rPr>
              <a:t>δ</a:t>
            </a:r>
            <a:r>
              <a:rPr dirty="0" sz="1100" spc="-25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555" y="2345942"/>
            <a:ext cx="3730625" cy="8147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Arial MT"/>
                <a:cs typeface="Arial MT"/>
              </a:rPr>
              <a:t>The</a:t>
            </a:r>
            <a:r>
              <a:rPr dirty="0" sz="1100" spc="-25">
                <a:latin typeface="Arial MT"/>
                <a:cs typeface="Arial MT"/>
              </a:rPr>
              <a:t> intrinsic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formulation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Steiner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probem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given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by </a:t>
            </a:r>
            <a:r>
              <a:rPr dirty="0" sz="1100" spc="-5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  <a:p>
            <a:pPr marL="716280">
              <a:lnSpc>
                <a:spcPct val="100000"/>
              </a:lnSpc>
              <a:spcBef>
                <a:spcPts val="1130"/>
              </a:spcBef>
            </a:pPr>
            <a:r>
              <a:rPr dirty="0" sz="1100">
                <a:latin typeface="Tahoma"/>
                <a:cs typeface="Tahoma"/>
              </a:rPr>
              <a:t>min</a:t>
            </a:r>
            <a:r>
              <a:rPr dirty="0" sz="1100">
                <a:latin typeface="Lucida Sans Unicode"/>
                <a:cs typeface="Lucida Sans Unicode"/>
              </a:rPr>
              <a:t>{H</a:t>
            </a:r>
            <a:r>
              <a:rPr dirty="0" baseline="31250" sz="1200">
                <a:latin typeface="Arial MT"/>
                <a:cs typeface="Arial MT"/>
              </a:rPr>
              <a:t>1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:</a:t>
            </a:r>
            <a:r>
              <a:rPr dirty="0" sz="1100" spc="225">
                <a:latin typeface="Tahoma"/>
                <a:cs typeface="Tahoma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130" i="1">
                <a:latin typeface="Arial"/>
                <a:cs typeface="Arial"/>
              </a:rPr>
              <a:t> </a:t>
            </a:r>
            <a:r>
              <a:rPr dirty="0" sz="1100" spc="-60">
                <a:latin typeface="Arial MT"/>
                <a:cs typeface="Arial MT"/>
              </a:rPr>
              <a:t>connected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close,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1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baseline="31250" sz="1200">
                <a:latin typeface="Lucida Sans Unicode"/>
                <a:cs typeface="Lucida Sans Unicode"/>
              </a:rPr>
              <a:t>′</a:t>
            </a:r>
            <a:r>
              <a:rPr dirty="0" baseline="31250" sz="1200" spc="89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⊆</a:t>
            </a:r>
            <a:r>
              <a:rPr dirty="0" sz="1100" spc="-80">
                <a:latin typeface="Lucida Sans Unicode"/>
                <a:cs typeface="Lucida Sans Unicode"/>
              </a:rPr>
              <a:t> </a:t>
            </a:r>
            <a:r>
              <a:rPr dirty="0" sz="1100" spc="-11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 spc="13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1130"/>
              </a:spcBef>
            </a:pPr>
            <a:r>
              <a:rPr dirty="0" sz="1100" spc="-75">
                <a:latin typeface="Arial MT"/>
                <a:cs typeface="Arial MT"/>
              </a:rPr>
              <a:t>where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1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baseline="27777" sz="1200">
                <a:latin typeface="Lucida Sans Unicode"/>
                <a:cs typeface="Lucida Sans Unicode"/>
              </a:rPr>
              <a:t>′</a:t>
            </a:r>
            <a:r>
              <a:rPr dirty="0" baseline="27777" sz="1200" spc="97">
                <a:latin typeface="Lucida Sans Unicode"/>
                <a:cs typeface="Lucida Sans Unicode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>
                <a:latin typeface="Arial MT"/>
                <a:cs typeface="Arial MT"/>
              </a:rPr>
              <a:t> a </a:t>
            </a:r>
            <a:r>
              <a:rPr dirty="0" sz="1100" spc="-55">
                <a:latin typeface="Arial MT"/>
                <a:cs typeface="Arial MT"/>
              </a:rPr>
              <a:t>closed,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nonempty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subset</a:t>
            </a:r>
            <a:r>
              <a:rPr dirty="0" sz="1100">
                <a:latin typeface="Arial MT"/>
                <a:cs typeface="Arial MT"/>
              </a:rPr>
              <a:t> 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E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81737" y="2657194"/>
            <a:ext cx="20193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25">
                <a:latin typeface="Arial MT"/>
                <a:cs typeface="Arial MT"/>
              </a:rPr>
              <a:t>(2)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28" name="object 28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10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8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Topological</a:t>
            </a:r>
            <a:r>
              <a:rPr dirty="0" spc="-30"/>
              <a:t> </a:t>
            </a:r>
            <a:r>
              <a:rPr dirty="0" spc="-80"/>
              <a:t>Framework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212" y="1365948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212" y="1856054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2255" y="548308"/>
            <a:ext cx="4409440" cy="15881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 marR="197485">
              <a:lnSpc>
                <a:spcPct val="102600"/>
              </a:lnSpc>
              <a:spcBef>
                <a:spcPts val="55"/>
              </a:spcBef>
            </a:pP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75">
                <a:latin typeface="Arial MT"/>
                <a:cs typeface="Arial MT"/>
              </a:rPr>
              <a:t>solve</a:t>
            </a:r>
            <a:r>
              <a:rPr dirty="0" sz="1100">
                <a:latin typeface="Arial MT"/>
                <a:cs typeface="Arial MT"/>
              </a:rPr>
              <a:t> 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Steiner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problem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abstract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settings,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we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must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define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how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to </a:t>
            </a:r>
            <a:r>
              <a:rPr dirty="0" sz="1100" spc="-90">
                <a:latin typeface="Arial MT"/>
                <a:cs typeface="Arial MT"/>
              </a:rPr>
              <a:t>measure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distances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between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sets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their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lengths.</a:t>
            </a:r>
            <a:r>
              <a:rPr dirty="0" sz="1100" spc="85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We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equip</a:t>
            </a:r>
            <a:r>
              <a:rPr dirty="0" sz="1100" spc="-10">
                <a:latin typeface="Arial MT"/>
                <a:cs typeface="Arial MT"/>
              </a:rPr>
              <a:t> our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metric </a:t>
            </a:r>
            <a:r>
              <a:rPr dirty="0" sz="1100" spc="-100">
                <a:latin typeface="Arial MT"/>
                <a:cs typeface="Arial MT"/>
              </a:rPr>
              <a:t>space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30">
                <a:latin typeface="Tahoma"/>
                <a:cs typeface="Tahoma"/>
              </a:rPr>
              <a:t>(</a:t>
            </a:r>
            <a:r>
              <a:rPr dirty="0" sz="1100" spc="-30" i="1">
                <a:latin typeface="Arial"/>
                <a:cs typeface="Arial"/>
              </a:rPr>
              <a:t>E</a:t>
            </a:r>
            <a:r>
              <a:rPr dirty="0" sz="1100" spc="-3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65" i="1">
                <a:latin typeface="Arial"/>
                <a:cs typeface="Arial"/>
              </a:rPr>
              <a:t>d</a:t>
            </a:r>
            <a:r>
              <a:rPr dirty="0" sz="1100" spc="-204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>
                <a:latin typeface="Arial MT"/>
                <a:cs typeface="Arial MT"/>
              </a:rPr>
              <a:t>with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two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primary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tools: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100">
              <a:latin typeface="Arial MT"/>
              <a:cs typeface="Arial MT"/>
            </a:endParaRPr>
          </a:p>
          <a:p>
            <a:pPr marL="302260" marR="43180">
              <a:lnSpc>
                <a:spcPct val="102600"/>
              </a:lnSpc>
            </a:pPr>
            <a:r>
              <a:rPr dirty="0" sz="1100" spc="-45" b="1">
                <a:latin typeface="Arial"/>
                <a:cs typeface="Arial"/>
              </a:rPr>
              <a:t>Hausdorff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Distance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</a:t>
            </a:r>
            <a:r>
              <a:rPr dirty="0" sz="1100" i="1">
                <a:latin typeface="Arial"/>
                <a:cs typeface="Arial"/>
              </a:rPr>
              <a:t>d</a:t>
            </a:r>
            <a:r>
              <a:rPr dirty="0" baseline="-13888" sz="1200" i="1">
                <a:latin typeface="Arial"/>
                <a:cs typeface="Arial"/>
              </a:rPr>
              <a:t>H</a:t>
            </a:r>
            <a:r>
              <a:rPr dirty="0" baseline="-13888" sz="1200" spc="-165" i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):</a:t>
            </a:r>
            <a:r>
              <a:rPr dirty="0" sz="1100" spc="110" b="1">
                <a:latin typeface="Arial"/>
                <a:cs typeface="Arial"/>
              </a:rPr>
              <a:t> </a:t>
            </a:r>
            <a:r>
              <a:rPr dirty="0" sz="1100" spc="-70">
                <a:latin typeface="Arial MT"/>
                <a:cs typeface="Arial MT"/>
              </a:rPr>
              <a:t>Provides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topology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for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convergence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10">
                <a:latin typeface="Arial MT"/>
                <a:cs typeface="Arial MT"/>
              </a:rPr>
              <a:t>sequences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compact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sets.</a:t>
            </a:r>
            <a:endParaRPr sz="1100">
              <a:latin typeface="Arial MT"/>
              <a:cs typeface="Arial MT"/>
            </a:endParaRPr>
          </a:p>
          <a:p>
            <a:pPr marL="302260" marR="149225">
              <a:lnSpc>
                <a:spcPct val="102600"/>
              </a:lnSpc>
              <a:spcBef>
                <a:spcPts val="1150"/>
              </a:spcBef>
            </a:pPr>
            <a:r>
              <a:rPr dirty="0" sz="1100" b="1">
                <a:latin typeface="Arial"/>
                <a:cs typeface="Arial"/>
              </a:rPr>
              <a:t>1-</a:t>
            </a:r>
            <a:r>
              <a:rPr dirty="0" sz="1100" spc="-35" b="1">
                <a:latin typeface="Arial"/>
                <a:cs typeface="Arial"/>
              </a:rPr>
              <a:t>Dimensional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45" b="1">
                <a:latin typeface="Arial"/>
                <a:cs typeface="Arial"/>
              </a:rPr>
              <a:t>Hausdorff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-30" b="1">
                <a:latin typeface="Arial"/>
                <a:cs typeface="Arial"/>
              </a:rPr>
              <a:t>Measure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spc="60" b="1">
                <a:latin typeface="Arial"/>
                <a:cs typeface="Arial"/>
              </a:rPr>
              <a:t>(</a:t>
            </a:r>
            <a:r>
              <a:rPr dirty="0" sz="1100" spc="60">
                <a:latin typeface="Lucida Sans Unicode"/>
                <a:cs typeface="Lucida Sans Unicode"/>
              </a:rPr>
              <a:t>H</a:t>
            </a:r>
            <a:r>
              <a:rPr dirty="0" baseline="27777" sz="1200" spc="89">
                <a:latin typeface="Arial MT"/>
                <a:cs typeface="Arial MT"/>
              </a:rPr>
              <a:t>1</a:t>
            </a:r>
            <a:r>
              <a:rPr dirty="0" sz="1100" spc="60" b="1">
                <a:latin typeface="Arial"/>
                <a:cs typeface="Arial"/>
              </a:rPr>
              <a:t>):</a:t>
            </a:r>
            <a:r>
              <a:rPr dirty="0" sz="1100" spc="120" b="1">
                <a:latin typeface="Arial"/>
                <a:cs typeface="Arial"/>
              </a:rPr>
              <a:t> </a:t>
            </a:r>
            <a:r>
              <a:rPr dirty="0" sz="1100" spc="-90">
                <a:latin typeface="Arial MT"/>
                <a:cs typeface="Arial MT"/>
              </a:rPr>
              <a:t>Generalizes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concept </a:t>
            </a:r>
            <a:r>
              <a:rPr dirty="0" sz="1100">
                <a:latin typeface="Arial MT"/>
                <a:cs typeface="Arial MT"/>
              </a:rPr>
              <a:t>of </a:t>
            </a:r>
            <a:r>
              <a:rPr dirty="0" sz="1100" spc="-30">
                <a:latin typeface="Arial MT"/>
                <a:cs typeface="Arial MT"/>
              </a:rPr>
              <a:t>length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any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subset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A</a:t>
            </a:r>
            <a:r>
              <a:rPr dirty="0" sz="1100" spc="-4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⊆</a:t>
            </a:r>
            <a:r>
              <a:rPr dirty="0" sz="1100" spc="-75">
                <a:latin typeface="Lucida Sans Unicode"/>
                <a:cs typeface="Lucida Sans Unicode"/>
              </a:rPr>
              <a:t> </a:t>
            </a:r>
            <a:r>
              <a:rPr dirty="0" sz="1100" spc="-95" i="1">
                <a:latin typeface="Arial"/>
                <a:cs typeface="Arial"/>
              </a:rPr>
              <a:t>E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 spc="-5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854" y="2442082"/>
            <a:ext cx="4434840" cy="193675"/>
          </a:xfrm>
          <a:custGeom>
            <a:avLst/>
            <a:gdLst/>
            <a:ahLst/>
            <a:cxnLst/>
            <a:rect l="l" t="t" r="r" b="b"/>
            <a:pathLst>
              <a:path w="4434840" h="19367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3069"/>
                </a:lnTo>
                <a:lnTo>
                  <a:pt x="4434338" y="193069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7655" y="2454974"/>
            <a:ext cx="573405" cy="184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1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2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10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854" y="2499016"/>
            <a:ext cx="4485640" cy="588645"/>
            <a:chOff x="86854" y="2499016"/>
            <a:chExt cx="4485640" cy="58864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54" y="2622499"/>
              <a:ext cx="4434338" cy="506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7655" y="2499016"/>
              <a:ext cx="4434840" cy="588645"/>
            </a:xfrm>
            <a:custGeom>
              <a:avLst/>
              <a:gdLst/>
              <a:ahLst/>
              <a:cxnLst/>
              <a:rect l="l" t="t" r="r" b="b"/>
              <a:pathLst>
                <a:path w="4434840" h="588644">
                  <a:moveTo>
                    <a:pt x="4434338" y="0"/>
                  </a:moveTo>
                  <a:lnTo>
                    <a:pt x="0" y="0"/>
                  </a:lnTo>
                  <a:lnTo>
                    <a:pt x="0" y="588417"/>
                  </a:lnTo>
                  <a:lnTo>
                    <a:pt x="4434338" y="588417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6854" y="2666780"/>
              <a:ext cx="4434840" cy="370205"/>
            </a:xfrm>
            <a:custGeom>
              <a:avLst/>
              <a:gdLst/>
              <a:ahLst/>
              <a:cxnLst/>
              <a:rect l="l" t="t" r="r" b="b"/>
              <a:pathLst>
                <a:path w="4434840" h="370205">
                  <a:moveTo>
                    <a:pt x="4434338" y="0"/>
                  </a:moveTo>
                  <a:lnTo>
                    <a:pt x="0" y="0"/>
                  </a:lnTo>
                  <a:lnTo>
                    <a:pt x="0" y="319053"/>
                  </a:lnTo>
                  <a:lnTo>
                    <a:pt x="4008" y="338777"/>
                  </a:lnTo>
                  <a:lnTo>
                    <a:pt x="14922" y="354930"/>
                  </a:lnTo>
                  <a:lnTo>
                    <a:pt x="31075" y="365845"/>
                  </a:lnTo>
                  <a:lnTo>
                    <a:pt x="50800" y="369853"/>
                  </a:lnTo>
                  <a:lnTo>
                    <a:pt x="4383537" y="369853"/>
                  </a:lnTo>
                  <a:lnTo>
                    <a:pt x="4403262" y="365845"/>
                  </a:lnTo>
                  <a:lnTo>
                    <a:pt x="4419415" y="354930"/>
                  </a:lnTo>
                  <a:lnTo>
                    <a:pt x="4430329" y="338777"/>
                  </a:lnTo>
                  <a:lnTo>
                    <a:pt x="4434338" y="319053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37655" y="2641954"/>
            <a:ext cx="4434840" cy="36385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R="445770">
              <a:lnSpc>
                <a:spcPct val="102600"/>
              </a:lnSpc>
              <a:spcBef>
                <a:spcPts val="55"/>
              </a:spcBef>
            </a:pPr>
            <a:r>
              <a:rPr dirty="0" sz="1100" spc="-110">
                <a:latin typeface="Arial MT"/>
                <a:cs typeface="Arial MT"/>
              </a:rPr>
              <a:t>Use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these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topologies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apply</a:t>
            </a:r>
            <a:r>
              <a:rPr dirty="0" sz="1100">
                <a:latin typeface="Arial MT"/>
                <a:cs typeface="Arial MT"/>
              </a:rPr>
              <a:t> the </a:t>
            </a:r>
            <a:r>
              <a:rPr dirty="0" sz="1100" b="1">
                <a:latin typeface="Arial"/>
                <a:cs typeface="Arial"/>
              </a:rPr>
              <a:t>Direct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Method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guarantee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the </a:t>
            </a:r>
            <a:r>
              <a:rPr dirty="0" sz="1100" spc="-65">
                <a:latin typeface="Arial MT"/>
                <a:cs typeface="Arial MT"/>
              </a:rPr>
              <a:t>existence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an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optimal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connected</a:t>
            </a:r>
            <a:r>
              <a:rPr dirty="0" sz="1100" spc="-10">
                <a:latin typeface="Arial MT"/>
                <a:cs typeface="Arial MT"/>
              </a:rPr>
              <a:t> structure.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10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8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"/>
              <a:t>The</a:t>
            </a:r>
            <a:r>
              <a:rPr dirty="0" spc="-70"/>
              <a:t> </a:t>
            </a:r>
            <a:r>
              <a:rPr dirty="0" spc="-10"/>
              <a:t>Direct</a:t>
            </a:r>
            <a:r>
              <a:rPr dirty="0" spc="-65"/>
              <a:t> </a:t>
            </a:r>
            <a:r>
              <a:rPr dirty="0" spc="-30"/>
              <a:t>Method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955" y="934718"/>
            <a:ext cx="256032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1">
                <a:latin typeface="Arial"/>
                <a:cs typeface="Arial"/>
              </a:rPr>
              <a:t>Phase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</a:t>
            </a:r>
            <a:r>
              <a:rPr dirty="0" sz="1100">
                <a:latin typeface="Arial MT"/>
                <a:cs typeface="Arial MT"/>
              </a:rPr>
              <a:t>: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Completeness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spc="-25">
                <a:latin typeface="Arial MT"/>
                <a:cs typeface="Arial MT"/>
              </a:rPr>
              <a:t>State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Space.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955" y="1632113"/>
            <a:ext cx="31305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1">
                <a:latin typeface="Arial"/>
                <a:cs typeface="Arial"/>
              </a:rPr>
              <a:t>Phase</a:t>
            </a:r>
            <a:r>
              <a:rPr dirty="0" sz="1100" spc="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2</a:t>
            </a:r>
            <a:r>
              <a:rPr dirty="0" sz="1100">
                <a:latin typeface="Arial MT"/>
                <a:cs typeface="Arial MT"/>
              </a:rPr>
              <a:t>: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Compactness:</a:t>
            </a:r>
            <a:r>
              <a:rPr dirty="0" sz="1100" spc="12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Blaschke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Selection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Theorem.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955" y="2329508"/>
            <a:ext cx="3042285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45" b="1">
                <a:latin typeface="Arial"/>
                <a:cs typeface="Arial"/>
              </a:rPr>
              <a:t>Phase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3</a:t>
            </a:r>
            <a:r>
              <a:rPr dirty="0" sz="1100">
                <a:latin typeface="Arial MT"/>
                <a:cs typeface="Arial MT"/>
              </a:rPr>
              <a:t>:</a:t>
            </a:r>
            <a:r>
              <a:rPr dirty="0" sz="1100" spc="9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Lower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Semi-</a:t>
            </a:r>
            <a:r>
              <a:rPr dirty="0" sz="1100" spc="-25">
                <a:latin typeface="Arial MT"/>
                <a:cs typeface="Arial MT"/>
              </a:rPr>
              <a:t>Continuity:</a:t>
            </a:r>
            <a:r>
              <a:rPr dirty="0" sz="1100" spc="10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Golab’s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Theorem.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10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8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884"/>
            <a:ext cx="241681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100"/>
              <a:t>Completeness</a:t>
            </a:r>
            <a:r>
              <a:rPr dirty="0"/>
              <a:t> of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25"/>
              <a:t> </a:t>
            </a:r>
            <a:r>
              <a:rPr dirty="0" spc="-35"/>
              <a:t>State</a:t>
            </a:r>
            <a:r>
              <a:rPr dirty="0" spc="-30"/>
              <a:t> </a:t>
            </a:r>
            <a:r>
              <a:rPr dirty="0" spc="-95"/>
              <a:t>Space</a:t>
            </a:r>
          </a:p>
        </p:txBody>
      </p:sp>
      <p:sp>
        <p:nvSpPr>
          <p:cNvPr id="3" name="object 3"/>
          <p:cNvSpPr/>
          <p:nvPr/>
        </p:nvSpPr>
        <p:spPr>
          <a:xfrm>
            <a:off x="86854" y="774496"/>
            <a:ext cx="4434840" cy="193675"/>
          </a:xfrm>
          <a:custGeom>
            <a:avLst/>
            <a:gdLst/>
            <a:ahLst/>
            <a:cxnLst/>
            <a:rect l="l" t="t" r="r" b="b"/>
            <a:pathLst>
              <a:path w="4434840" h="19367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3069"/>
                </a:lnTo>
                <a:lnTo>
                  <a:pt x="4434338" y="193069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57D5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7655" y="787388"/>
            <a:ext cx="603250" cy="184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35">
                <a:solidFill>
                  <a:srgbClr val="FFFFFF"/>
                </a:solidFill>
                <a:latin typeface="Arial MT"/>
                <a:cs typeface="Arial MT"/>
              </a:rPr>
              <a:t>Definition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854" y="831419"/>
            <a:ext cx="4485640" cy="1494790"/>
            <a:chOff x="86854" y="831419"/>
            <a:chExt cx="4485640" cy="14947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54" y="954913"/>
              <a:ext cx="4434338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7655" y="831419"/>
              <a:ext cx="4434840" cy="1494790"/>
            </a:xfrm>
            <a:custGeom>
              <a:avLst/>
              <a:gdLst/>
              <a:ahLst/>
              <a:cxnLst/>
              <a:rect l="l" t="t" r="r" b="b"/>
              <a:pathLst>
                <a:path w="4434840" h="1494789">
                  <a:moveTo>
                    <a:pt x="4434338" y="0"/>
                  </a:moveTo>
                  <a:lnTo>
                    <a:pt x="0" y="0"/>
                  </a:lnTo>
                  <a:lnTo>
                    <a:pt x="0" y="1494243"/>
                  </a:lnTo>
                  <a:lnTo>
                    <a:pt x="4434338" y="1494243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54" y="999183"/>
              <a:ext cx="4434840" cy="1275715"/>
            </a:xfrm>
            <a:custGeom>
              <a:avLst/>
              <a:gdLst/>
              <a:ahLst/>
              <a:cxnLst/>
              <a:rect l="l" t="t" r="r" b="b"/>
              <a:pathLst>
                <a:path w="4434840" h="1275714">
                  <a:moveTo>
                    <a:pt x="4434338" y="0"/>
                  </a:moveTo>
                  <a:lnTo>
                    <a:pt x="0" y="0"/>
                  </a:lnTo>
                  <a:lnTo>
                    <a:pt x="0" y="1224878"/>
                  </a:lnTo>
                  <a:lnTo>
                    <a:pt x="4008" y="1244603"/>
                  </a:lnTo>
                  <a:lnTo>
                    <a:pt x="14922" y="1260756"/>
                  </a:lnTo>
                  <a:lnTo>
                    <a:pt x="31075" y="1271670"/>
                  </a:lnTo>
                  <a:lnTo>
                    <a:pt x="50800" y="1275679"/>
                  </a:lnTo>
                  <a:lnTo>
                    <a:pt x="4383537" y="1275679"/>
                  </a:lnTo>
                  <a:lnTo>
                    <a:pt x="4403262" y="1271670"/>
                  </a:lnTo>
                  <a:lnTo>
                    <a:pt x="4419415" y="1260756"/>
                  </a:lnTo>
                  <a:lnTo>
                    <a:pt x="4430329" y="1244603"/>
                  </a:lnTo>
                  <a:lnTo>
                    <a:pt x="4434338" y="1224878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EEFA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3355" y="974368"/>
            <a:ext cx="4478655" cy="190817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14300" marR="294640">
              <a:lnSpc>
                <a:spcPct val="102600"/>
              </a:lnSpc>
              <a:spcBef>
                <a:spcPts val="55"/>
              </a:spcBef>
            </a:pPr>
            <a:r>
              <a:rPr dirty="0" sz="1100" spc="-70">
                <a:latin typeface="Arial MT"/>
                <a:cs typeface="Arial MT"/>
              </a:rPr>
              <a:t>Given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set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95" i="1">
                <a:latin typeface="Arial"/>
                <a:cs typeface="Arial"/>
              </a:rPr>
              <a:t>E</a:t>
            </a:r>
            <a:r>
              <a:rPr dirty="0" sz="1100" spc="-180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, </a:t>
            </a:r>
            <a:r>
              <a:rPr dirty="0" sz="1100" spc="-30">
                <a:latin typeface="Lucida Sans Unicode"/>
                <a:cs typeface="Lucida Sans Unicode"/>
              </a:rPr>
              <a:t>C</a:t>
            </a:r>
            <a:r>
              <a:rPr dirty="0" baseline="-13888" sz="1200" spc="-44" i="1">
                <a:latin typeface="Arial"/>
                <a:cs typeface="Arial"/>
              </a:rPr>
              <a:t>E</a:t>
            </a:r>
            <a:r>
              <a:rPr dirty="0" baseline="-13888" sz="1200" spc="300" i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>
                <a:latin typeface="Arial MT"/>
                <a:cs typeface="Arial MT"/>
              </a:rPr>
              <a:t> 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space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all </a:t>
            </a:r>
            <a:r>
              <a:rPr dirty="0" sz="1100" spc="-55">
                <a:latin typeface="Arial MT"/>
                <a:cs typeface="Arial MT"/>
              </a:rPr>
              <a:t>non-</a:t>
            </a:r>
            <a:r>
              <a:rPr dirty="0" sz="1100" spc="-45">
                <a:latin typeface="Arial MT"/>
                <a:cs typeface="Arial MT"/>
              </a:rPr>
              <a:t>empty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closed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subset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 </a:t>
            </a:r>
            <a:r>
              <a:rPr dirty="0" sz="1100" spc="-95" i="1">
                <a:latin typeface="Arial"/>
                <a:cs typeface="Arial"/>
              </a:rPr>
              <a:t>E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we </a:t>
            </a:r>
            <a:r>
              <a:rPr dirty="0" sz="1100" spc="-60">
                <a:latin typeface="Arial MT"/>
                <a:cs typeface="Arial MT"/>
              </a:rPr>
              <a:t>define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Haudorff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distance</a:t>
            </a:r>
            <a:r>
              <a:rPr dirty="0" sz="1100" spc="-10">
                <a:latin typeface="Arial MT"/>
                <a:cs typeface="Arial MT"/>
              </a:rPr>
              <a:t> 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Lucida Sans Unicode"/>
                <a:cs typeface="Lucida Sans Unicode"/>
              </a:rPr>
              <a:t>C</a:t>
            </a:r>
            <a:r>
              <a:rPr dirty="0" baseline="-13888" sz="1200" spc="-44" i="1">
                <a:latin typeface="Arial"/>
                <a:cs typeface="Arial"/>
              </a:rPr>
              <a:t>E</a:t>
            </a:r>
            <a:r>
              <a:rPr dirty="0" baseline="-13888" sz="1200" spc="284" i="1">
                <a:latin typeface="Arial"/>
                <a:cs typeface="Arial"/>
              </a:rPr>
              <a:t> </a:t>
            </a:r>
            <a:r>
              <a:rPr dirty="0" sz="1100" spc="-110">
                <a:latin typeface="Arial MT"/>
                <a:cs typeface="Arial MT"/>
              </a:rPr>
              <a:t>as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:</a:t>
            </a:r>
            <a:r>
              <a:rPr dirty="0" sz="1100" spc="9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for</a:t>
            </a:r>
            <a:endParaRPr sz="1100">
              <a:latin typeface="Arial MT"/>
              <a:cs typeface="Arial MT"/>
            </a:endParaRPr>
          </a:p>
          <a:p>
            <a:pPr algn="ctr" marL="82550">
              <a:lnSpc>
                <a:spcPct val="100000"/>
              </a:lnSpc>
              <a:spcBef>
                <a:spcPts val="1130"/>
              </a:spcBef>
            </a:pPr>
            <a:r>
              <a:rPr dirty="0" sz="1100" spc="-45" i="1">
                <a:latin typeface="Arial"/>
                <a:cs typeface="Arial"/>
              </a:rPr>
              <a:t>C</a:t>
            </a:r>
            <a:r>
              <a:rPr dirty="0" sz="1100" spc="-45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D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 spc="-155">
                <a:latin typeface="Lucida Sans Unicode"/>
                <a:cs typeface="Lucida Sans Unicode"/>
              </a:rPr>
              <a:t>∈</a:t>
            </a:r>
            <a:r>
              <a:rPr dirty="0" sz="1100" spc="-35">
                <a:latin typeface="Lucida Sans Unicode"/>
                <a:cs typeface="Lucida Sans Unicode"/>
              </a:rPr>
              <a:t> </a:t>
            </a:r>
            <a:r>
              <a:rPr dirty="0" sz="1100" spc="-120">
                <a:latin typeface="Lucida Sans Unicode"/>
                <a:cs typeface="Lucida Sans Unicode"/>
              </a:rPr>
              <a:t>C</a:t>
            </a:r>
            <a:r>
              <a:rPr dirty="0" baseline="-13888" sz="1200" spc="-179" i="1">
                <a:latin typeface="Arial"/>
                <a:cs typeface="Arial"/>
              </a:rPr>
              <a:t>E</a:t>
            </a:r>
            <a:r>
              <a:rPr dirty="0" baseline="-13888" sz="1200" spc="-120" i="1">
                <a:latin typeface="Arial"/>
                <a:cs typeface="Arial"/>
              </a:rPr>
              <a:t> 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170" i="1">
                <a:latin typeface="Verdana"/>
                <a:cs typeface="Verdana"/>
              </a:rPr>
              <a:t> </a:t>
            </a:r>
            <a:r>
              <a:rPr dirty="0" sz="1100" spc="-25" i="1">
                <a:latin typeface="Arial"/>
                <a:cs typeface="Arial"/>
              </a:rPr>
              <a:t>d</a:t>
            </a:r>
            <a:r>
              <a:rPr dirty="0" baseline="-13888" sz="1200" spc="-37" i="1">
                <a:latin typeface="Arial"/>
                <a:cs typeface="Arial"/>
              </a:rPr>
              <a:t>H</a:t>
            </a:r>
            <a:r>
              <a:rPr dirty="0" baseline="-13888" sz="1200" spc="-165" i="1">
                <a:latin typeface="Arial"/>
                <a:cs typeface="Arial"/>
              </a:rPr>
              <a:t> </a:t>
            </a:r>
            <a:r>
              <a:rPr dirty="0" sz="1100" spc="-35">
                <a:latin typeface="Tahoma"/>
                <a:cs typeface="Tahoma"/>
              </a:rPr>
              <a:t>(</a:t>
            </a:r>
            <a:r>
              <a:rPr dirty="0" sz="1100" spc="-35" i="1">
                <a:latin typeface="Arial"/>
                <a:cs typeface="Arial"/>
              </a:rPr>
              <a:t>C</a:t>
            </a:r>
            <a:r>
              <a:rPr dirty="0" sz="1100" spc="-35" i="1">
                <a:latin typeface="Verdana"/>
                <a:cs typeface="Verdana"/>
              </a:rPr>
              <a:t>,</a:t>
            </a:r>
            <a:r>
              <a:rPr dirty="0" sz="1100" spc="-200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D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:=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min</a:t>
            </a:r>
            <a:r>
              <a:rPr dirty="0" sz="1100" spc="-25">
                <a:latin typeface="Lucida Sans Unicode"/>
                <a:cs typeface="Lucida Sans Unicode"/>
              </a:rPr>
              <a:t>{</a:t>
            </a:r>
            <a:r>
              <a:rPr dirty="0" sz="1100" spc="-25">
                <a:latin typeface="Arial MT"/>
                <a:cs typeface="Arial MT"/>
              </a:rPr>
              <a:t>1</a:t>
            </a:r>
            <a:r>
              <a:rPr dirty="0" sz="1100" spc="-25" i="1">
                <a:latin typeface="Verdana"/>
                <a:cs typeface="Verdana"/>
              </a:rPr>
              <a:t>,</a:t>
            </a:r>
            <a:r>
              <a:rPr dirty="0" sz="1100" spc="-200" i="1">
                <a:latin typeface="Verdana"/>
                <a:cs typeface="Verdana"/>
              </a:rPr>
              <a:t> </a:t>
            </a:r>
            <a:r>
              <a:rPr dirty="0" sz="1100" spc="-35" i="1">
                <a:latin typeface="Arial"/>
                <a:cs typeface="Arial"/>
              </a:rPr>
              <a:t>h</a:t>
            </a:r>
            <a:r>
              <a:rPr dirty="0" sz="1100" spc="-35">
                <a:latin typeface="Tahoma"/>
                <a:cs typeface="Tahoma"/>
              </a:rPr>
              <a:t>(</a:t>
            </a:r>
            <a:r>
              <a:rPr dirty="0" sz="1100" spc="-35" i="1">
                <a:latin typeface="Arial"/>
                <a:cs typeface="Arial"/>
              </a:rPr>
              <a:t>C</a:t>
            </a:r>
            <a:r>
              <a:rPr dirty="0" sz="1100" spc="-35" i="1">
                <a:latin typeface="Verdana"/>
                <a:cs typeface="Verdana"/>
              </a:rPr>
              <a:t>,</a:t>
            </a:r>
            <a:r>
              <a:rPr dirty="0" sz="1100" spc="-200" i="1">
                <a:latin typeface="Verdana"/>
                <a:cs typeface="Verdana"/>
              </a:rPr>
              <a:t> </a:t>
            </a:r>
            <a:r>
              <a:rPr dirty="0" sz="1100" spc="55" i="1">
                <a:latin typeface="Arial"/>
                <a:cs typeface="Arial"/>
              </a:rPr>
              <a:t>D</a:t>
            </a:r>
            <a:r>
              <a:rPr dirty="0" sz="1100" spc="55">
                <a:latin typeface="Tahoma"/>
                <a:cs typeface="Tahoma"/>
              </a:rPr>
              <a:t>)</a:t>
            </a:r>
            <a:r>
              <a:rPr dirty="0" sz="1100" spc="55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114300">
              <a:lnSpc>
                <a:spcPct val="100000"/>
              </a:lnSpc>
              <a:spcBef>
                <a:spcPts val="1130"/>
              </a:spcBef>
            </a:pPr>
            <a:r>
              <a:rPr dirty="0" sz="1100" spc="-10">
                <a:latin typeface="Arial MT"/>
                <a:cs typeface="Arial MT"/>
              </a:rPr>
              <a:t>where</a:t>
            </a:r>
            <a:endParaRPr sz="1100">
              <a:latin typeface="Arial MT"/>
              <a:cs typeface="Arial MT"/>
            </a:endParaRPr>
          </a:p>
          <a:p>
            <a:pPr algn="ctr" marL="82550">
              <a:lnSpc>
                <a:spcPts val="1200"/>
              </a:lnSpc>
              <a:spcBef>
                <a:spcPts val="35"/>
              </a:spcBef>
              <a:tabLst>
                <a:tab pos="834390" algn="l"/>
              </a:tabLst>
            </a:pPr>
            <a:r>
              <a:rPr dirty="0" sz="1100" spc="-35" i="1">
                <a:latin typeface="Arial"/>
                <a:cs typeface="Arial"/>
              </a:rPr>
              <a:t>h</a:t>
            </a:r>
            <a:r>
              <a:rPr dirty="0" sz="1100" spc="-35">
                <a:latin typeface="Tahoma"/>
                <a:cs typeface="Tahoma"/>
              </a:rPr>
              <a:t>(</a:t>
            </a:r>
            <a:r>
              <a:rPr dirty="0" sz="1100" spc="-35" i="1">
                <a:latin typeface="Arial"/>
                <a:cs typeface="Arial"/>
              </a:rPr>
              <a:t>C</a:t>
            </a:r>
            <a:r>
              <a:rPr dirty="0" sz="1100" spc="-35" i="1">
                <a:latin typeface="Verdana"/>
                <a:cs typeface="Verdana"/>
              </a:rPr>
              <a:t>,</a:t>
            </a:r>
            <a:r>
              <a:rPr dirty="0" sz="1100" spc="-175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D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=</a:t>
            </a:r>
            <a:r>
              <a:rPr dirty="0" sz="1100">
                <a:latin typeface="Tahoma"/>
                <a:cs typeface="Tahoma"/>
              </a:rPr>
              <a:t>	inf</a:t>
            </a:r>
            <a:r>
              <a:rPr dirty="0" sz="1100" spc="110">
                <a:latin typeface="Tahoma"/>
                <a:cs typeface="Tahoma"/>
              </a:rPr>
              <a:t>  </a:t>
            </a:r>
            <a:r>
              <a:rPr dirty="0" sz="1100">
                <a:latin typeface="Lucida Sans Unicode"/>
                <a:cs typeface="Lucida Sans Unicode"/>
              </a:rPr>
              <a:t>{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114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⊆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D</a:t>
            </a:r>
            <a:r>
              <a:rPr dirty="0" baseline="-10416" sz="1200" i="1">
                <a:latin typeface="Arial"/>
                <a:cs typeface="Arial"/>
              </a:rPr>
              <a:t>r</a:t>
            </a:r>
            <a:r>
              <a:rPr dirty="0" baseline="-10416" sz="1200" spc="-127" i="1">
                <a:latin typeface="Arial"/>
                <a:cs typeface="Arial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i="1">
                <a:latin typeface="Arial"/>
                <a:cs typeface="Arial"/>
              </a:rPr>
              <a:t>D</a:t>
            </a:r>
            <a:r>
              <a:rPr dirty="0" sz="1100" spc="7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⊆</a:t>
            </a:r>
            <a:r>
              <a:rPr dirty="0" sz="1100" spc="-50">
                <a:latin typeface="Lucida Sans Unicode"/>
                <a:cs typeface="Lucida Sans Unicode"/>
              </a:rPr>
              <a:t> </a:t>
            </a:r>
            <a:r>
              <a:rPr dirty="0" sz="1100" spc="-50" i="1">
                <a:latin typeface="Arial"/>
                <a:cs typeface="Arial"/>
              </a:rPr>
              <a:t>C</a:t>
            </a:r>
            <a:r>
              <a:rPr dirty="0" baseline="-10416" sz="1200" spc="-75" i="1">
                <a:latin typeface="Arial"/>
                <a:cs typeface="Arial"/>
              </a:rPr>
              <a:t>r</a:t>
            </a:r>
            <a:r>
              <a:rPr dirty="0" baseline="-10416" sz="1200" spc="-127" i="1">
                <a:latin typeface="Arial"/>
                <a:cs typeface="Arial"/>
              </a:rPr>
              <a:t> </a:t>
            </a:r>
            <a:r>
              <a:rPr dirty="0" sz="1100" spc="13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algn="ctr" marR="347345">
              <a:lnSpc>
                <a:spcPts val="840"/>
              </a:lnSpc>
            </a:pPr>
            <a:r>
              <a:rPr dirty="0" sz="800" i="1">
                <a:latin typeface="Arial"/>
                <a:cs typeface="Arial"/>
              </a:rPr>
              <a:t>r</a:t>
            </a:r>
            <a:r>
              <a:rPr dirty="0" sz="800" spc="-114" i="1">
                <a:latin typeface="Arial"/>
                <a:cs typeface="Arial"/>
              </a:rPr>
              <a:t> </a:t>
            </a:r>
            <a:r>
              <a:rPr dirty="0" sz="800" spc="-10">
                <a:latin typeface="Lucida Sans Unicode"/>
                <a:cs typeface="Lucida Sans Unicode"/>
              </a:rPr>
              <a:t>∈[</a:t>
            </a:r>
            <a:r>
              <a:rPr dirty="0" sz="800" spc="-10">
                <a:latin typeface="Arial MT"/>
                <a:cs typeface="Arial MT"/>
              </a:rPr>
              <a:t>0</a:t>
            </a:r>
            <a:r>
              <a:rPr dirty="0" sz="800" spc="-10" i="1">
                <a:latin typeface="Sitka Text"/>
                <a:cs typeface="Sitka Text"/>
              </a:rPr>
              <a:t>,</a:t>
            </a:r>
            <a:r>
              <a:rPr dirty="0" sz="800" spc="-10">
                <a:latin typeface="Lucida Sans Unicode"/>
                <a:cs typeface="Lucida Sans Unicode"/>
              </a:rPr>
              <a:t>∞]</a:t>
            </a:r>
            <a:endParaRPr sz="800">
              <a:latin typeface="Lucida Sans Unicode"/>
              <a:cs typeface="Lucida Sans Unicode"/>
            </a:endParaRPr>
          </a:p>
          <a:p>
            <a:pPr marL="114300" marR="43180">
              <a:lnSpc>
                <a:spcPct val="102600"/>
              </a:lnSpc>
              <a:spcBef>
                <a:spcPts val="1120"/>
              </a:spcBef>
            </a:pPr>
            <a:r>
              <a:rPr dirty="0" sz="1100" spc="-10">
                <a:latin typeface="Arial MT"/>
                <a:cs typeface="Arial MT"/>
              </a:rPr>
              <a:t>The</a:t>
            </a:r>
            <a:r>
              <a:rPr dirty="0" sz="1100" spc="-3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space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non-</a:t>
            </a:r>
            <a:r>
              <a:rPr dirty="0" sz="1100" spc="-45">
                <a:latin typeface="Arial MT"/>
                <a:cs typeface="Arial MT"/>
              </a:rPr>
              <a:t>empty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closed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subsets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85">
                <a:latin typeface="Tahoma"/>
                <a:cs typeface="Tahoma"/>
              </a:rPr>
              <a:t>(</a:t>
            </a:r>
            <a:r>
              <a:rPr dirty="0" sz="1100" spc="-85">
                <a:latin typeface="Lucida Sans Unicode"/>
                <a:cs typeface="Lucida Sans Unicode"/>
              </a:rPr>
              <a:t>C</a:t>
            </a:r>
            <a:r>
              <a:rPr dirty="0" baseline="-13888" sz="1200" spc="-127" i="1">
                <a:latin typeface="Arial"/>
                <a:cs typeface="Arial"/>
              </a:rPr>
              <a:t>E</a:t>
            </a:r>
            <a:r>
              <a:rPr dirty="0" baseline="-13888" sz="1200" spc="-120" i="1">
                <a:latin typeface="Arial"/>
                <a:cs typeface="Arial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25" i="1">
                <a:latin typeface="Arial"/>
                <a:cs typeface="Arial"/>
              </a:rPr>
              <a:t>d</a:t>
            </a:r>
            <a:r>
              <a:rPr dirty="0" baseline="-13888" sz="1200" spc="-37" i="1">
                <a:latin typeface="Arial"/>
                <a:cs typeface="Arial"/>
              </a:rPr>
              <a:t>H</a:t>
            </a:r>
            <a:r>
              <a:rPr dirty="0" baseline="-13888" sz="1200" spc="-16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complete,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provided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that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underlying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metric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space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E</a:t>
            </a:r>
            <a:r>
              <a:rPr dirty="0" sz="1100" spc="80" i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complete.</a:t>
            </a:r>
            <a:r>
              <a:rPr dirty="0" sz="1100" spc="7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This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ensures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our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limits</a:t>
            </a:r>
            <a:r>
              <a:rPr dirty="0" sz="1100" spc="-20">
                <a:latin typeface="Arial MT"/>
                <a:cs typeface="Arial MT"/>
              </a:rPr>
              <a:t> stay </a:t>
            </a:r>
            <a:r>
              <a:rPr dirty="0" sz="1100">
                <a:latin typeface="Arial MT"/>
                <a:cs typeface="Arial MT"/>
              </a:rPr>
              <a:t>within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space.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10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8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90"/>
              <a:t>Compactness:</a:t>
            </a:r>
            <a:r>
              <a:rPr dirty="0" spc="140"/>
              <a:t> </a:t>
            </a:r>
            <a:r>
              <a:rPr dirty="0" spc="-90"/>
              <a:t>Blaschke</a:t>
            </a:r>
            <a:r>
              <a:rPr dirty="0" spc="10"/>
              <a:t> </a:t>
            </a:r>
            <a:r>
              <a:rPr dirty="0" spc="-80"/>
              <a:t>Selection</a:t>
            </a:r>
            <a:r>
              <a:rPr dirty="0" spc="15"/>
              <a:t> </a:t>
            </a:r>
            <a:r>
              <a:rPr dirty="0" spc="-35"/>
              <a:t>Theorem</a:t>
            </a:r>
          </a:p>
        </p:txBody>
      </p:sp>
      <p:sp>
        <p:nvSpPr>
          <p:cNvPr id="3" name="object 3"/>
          <p:cNvSpPr/>
          <p:nvPr/>
        </p:nvSpPr>
        <p:spPr>
          <a:xfrm>
            <a:off x="86854" y="1193723"/>
            <a:ext cx="4434840" cy="215265"/>
          </a:xfrm>
          <a:custGeom>
            <a:avLst/>
            <a:gdLst/>
            <a:ahLst/>
            <a:cxnLst/>
            <a:rect l="l" t="t" r="r" b="b"/>
            <a:pathLst>
              <a:path w="4434840" h="21526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01"/>
                </a:lnTo>
                <a:lnTo>
                  <a:pt x="4434338" y="215201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874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7655" y="1209777"/>
            <a:ext cx="1292860" cy="184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70">
                <a:solidFill>
                  <a:srgbClr val="FFFFFF"/>
                </a:solidFill>
                <a:latin typeface="Arial MT"/>
                <a:cs typeface="Arial MT"/>
              </a:rPr>
              <a:t>Theorem</a:t>
            </a:r>
            <a:r>
              <a:rPr dirty="0" sz="12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20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 MT"/>
                <a:cs typeface="Arial MT"/>
              </a:rPr>
              <a:t>(Blashke)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854" y="1250653"/>
            <a:ext cx="4485640" cy="618490"/>
            <a:chOff x="86854" y="1250653"/>
            <a:chExt cx="4485640" cy="6184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54" y="1396263"/>
              <a:ext cx="4434338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7655" y="1250653"/>
              <a:ext cx="4434840" cy="618490"/>
            </a:xfrm>
            <a:custGeom>
              <a:avLst/>
              <a:gdLst/>
              <a:ahLst/>
              <a:cxnLst/>
              <a:rect l="l" t="t" r="r" b="b"/>
              <a:pathLst>
                <a:path w="4434840" h="618489">
                  <a:moveTo>
                    <a:pt x="4434338" y="0"/>
                  </a:moveTo>
                  <a:lnTo>
                    <a:pt x="0" y="0"/>
                  </a:lnTo>
                  <a:lnTo>
                    <a:pt x="0" y="618253"/>
                  </a:lnTo>
                  <a:lnTo>
                    <a:pt x="4434338" y="618253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54" y="1440549"/>
              <a:ext cx="4434840" cy="377825"/>
            </a:xfrm>
            <a:custGeom>
              <a:avLst/>
              <a:gdLst/>
              <a:ahLst/>
              <a:cxnLst/>
              <a:rect l="l" t="t" r="r" b="b"/>
              <a:pathLst>
                <a:path w="4434840" h="377825">
                  <a:moveTo>
                    <a:pt x="4434338" y="0"/>
                  </a:moveTo>
                  <a:lnTo>
                    <a:pt x="0" y="0"/>
                  </a:lnTo>
                  <a:lnTo>
                    <a:pt x="0" y="326756"/>
                  </a:lnTo>
                  <a:lnTo>
                    <a:pt x="4008" y="346481"/>
                  </a:lnTo>
                  <a:lnTo>
                    <a:pt x="14922" y="362634"/>
                  </a:lnTo>
                  <a:lnTo>
                    <a:pt x="31075" y="373548"/>
                  </a:lnTo>
                  <a:lnTo>
                    <a:pt x="50800" y="377557"/>
                  </a:lnTo>
                  <a:lnTo>
                    <a:pt x="4383537" y="377557"/>
                  </a:lnTo>
                  <a:lnTo>
                    <a:pt x="4403262" y="373548"/>
                  </a:lnTo>
                  <a:lnTo>
                    <a:pt x="4419415" y="362634"/>
                  </a:lnTo>
                  <a:lnTo>
                    <a:pt x="4430329" y="346481"/>
                  </a:lnTo>
                  <a:lnTo>
                    <a:pt x="4434338" y="326756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F3ED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9555" y="1415718"/>
            <a:ext cx="4511040" cy="8382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 MT"/>
                <a:cs typeface="Arial MT"/>
              </a:rPr>
              <a:t>If</a:t>
            </a:r>
            <a:r>
              <a:rPr dirty="0" sz="1100" spc="-7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metric </a:t>
            </a:r>
            <a:r>
              <a:rPr dirty="0" sz="1100" spc="-100">
                <a:latin typeface="Arial MT"/>
                <a:cs typeface="Arial MT"/>
              </a:rPr>
              <a:t>space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 </a:t>
            </a:r>
            <a:r>
              <a:rPr dirty="0" sz="1100" spc="-35">
                <a:latin typeface="Arial MT"/>
                <a:cs typeface="Arial MT"/>
              </a:rPr>
              <a:t>compact,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then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space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its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closed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subsets</a:t>
            </a:r>
            <a:endParaRPr sz="11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 sz="1100" spc="-55">
                <a:latin typeface="Tahoma"/>
                <a:cs typeface="Tahoma"/>
              </a:rPr>
              <a:t>(</a:t>
            </a:r>
            <a:r>
              <a:rPr dirty="0" sz="1100" spc="-55" i="1">
                <a:latin typeface="Arial"/>
                <a:cs typeface="Arial"/>
              </a:rPr>
              <a:t>C</a:t>
            </a:r>
            <a:r>
              <a:rPr dirty="0" baseline="-13888" sz="1200" spc="-82" i="1">
                <a:latin typeface="Arial"/>
                <a:cs typeface="Arial"/>
              </a:rPr>
              <a:t>E</a:t>
            </a:r>
            <a:r>
              <a:rPr dirty="0" baseline="-13888" sz="1200" spc="-120" i="1">
                <a:latin typeface="Arial"/>
                <a:cs typeface="Arial"/>
              </a:rPr>
              <a:t> </a:t>
            </a:r>
            <a:r>
              <a:rPr dirty="0" sz="1100" spc="-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25" i="1">
                <a:latin typeface="Arial"/>
                <a:cs typeface="Arial"/>
              </a:rPr>
              <a:t>d</a:t>
            </a:r>
            <a:r>
              <a:rPr dirty="0" baseline="-13888" sz="1200" spc="-37" i="1">
                <a:latin typeface="Arial"/>
                <a:cs typeface="Arial"/>
              </a:rPr>
              <a:t>H</a:t>
            </a:r>
            <a:r>
              <a:rPr dirty="0" baseline="-13888" sz="1200" spc="-16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4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also</a:t>
            </a:r>
            <a:r>
              <a:rPr dirty="0" sz="1100">
                <a:latin typeface="Arial MT"/>
                <a:cs typeface="Arial MT"/>
              </a:rPr>
              <a:t> a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compact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metric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space.</a:t>
            </a:r>
            <a:endParaRPr sz="1100">
              <a:latin typeface="Arial MT"/>
              <a:cs typeface="Arial MT"/>
            </a:endParaRPr>
          </a:p>
          <a:p>
            <a:pPr marL="38100" marR="296545">
              <a:lnSpc>
                <a:spcPct val="102600"/>
              </a:lnSpc>
              <a:spcBef>
                <a:spcPts val="1019"/>
              </a:spcBef>
            </a:pPr>
            <a:r>
              <a:rPr dirty="0" sz="1100" spc="-10">
                <a:latin typeface="Arial MT"/>
                <a:cs typeface="Arial MT"/>
              </a:rPr>
              <a:t>This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allows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us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extract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convergent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subsequence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any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minimizing </a:t>
            </a:r>
            <a:r>
              <a:rPr dirty="0" sz="1100" spc="-100">
                <a:latin typeface="Arial MT"/>
                <a:cs typeface="Arial MT"/>
              </a:rPr>
              <a:t>sequence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sets.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10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8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884"/>
            <a:ext cx="2303780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0"/>
              <a:t>Existence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/>
              <a:t>a</a:t>
            </a:r>
            <a:r>
              <a:rPr dirty="0" spc="-10"/>
              <a:t> </a:t>
            </a:r>
            <a:r>
              <a:rPr dirty="0" spc="-65"/>
              <a:t>Global</a:t>
            </a:r>
            <a:r>
              <a:rPr dirty="0" spc="-15"/>
              <a:t> </a:t>
            </a:r>
            <a:r>
              <a:rPr dirty="0" spc="-20"/>
              <a:t>Minimum</a:t>
            </a:r>
          </a:p>
        </p:txBody>
      </p:sp>
      <p:sp>
        <p:nvSpPr>
          <p:cNvPr id="3" name="object 3"/>
          <p:cNvSpPr/>
          <p:nvPr/>
        </p:nvSpPr>
        <p:spPr>
          <a:xfrm>
            <a:off x="86854" y="1181937"/>
            <a:ext cx="4434840" cy="215265"/>
          </a:xfrm>
          <a:custGeom>
            <a:avLst/>
            <a:gdLst/>
            <a:ahLst/>
            <a:cxnLst/>
            <a:rect l="l" t="t" r="r" b="b"/>
            <a:pathLst>
              <a:path w="4434840" h="21526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01"/>
                </a:lnTo>
                <a:lnTo>
                  <a:pt x="4434338" y="215201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874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7655" y="1197992"/>
            <a:ext cx="1176655" cy="184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70">
                <a:solidFill>
                  <a:srgbClr val="FFFFFF"/>
                </a:solidFill>
                <a:latin typeface="Arial MT"/>
                <a:cs typeface="Arial MT"/>
              </a:rPr>
              <a:t>Theorem</a:t>
            </a:r>
            <a:r>
              <a:rPr dirty="0" sz="1200" spc="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200" spc="1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(Golab)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854" y="1238865"/>
            <a:ext cx="4485640" cy="819785"/>
            <a:chOff x="86854" y="1238865"/>
            <a:chExt cx="4485640" cy="8197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54" y="1384490"/>
              <a:ext cx="4434338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7655" y="1238865"/>
              <a:ext cx="4434840" cy="819785"/>
            </a:xfrm>
            <a:custGeom>
              <a:avLst/>
              <a:gdLst/>
              <a:ahLst/>
              <a:cxnLst/>
              <a:rect l="l" t="t" r="r" b="b"/>
              <a:pathLst>
                <a:path w="4434840" h="819785">
                  <a:moveTo>
                    <a:pt x="4434338" y="0"/>
                  </a:moveTo>
                  <a:lnTo>
                    <a:pt x="0" y="0"/>
                  </a:lnTo>
                  <a:lnTo>
                    <a:pt x="0" y="819780"/>
                  </a:lnTo>
                  <a:lnTo>
                    <a:pt x="4434338" y="819780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54" y="1428761"/>
              <a:ext cx="4434840" cy="579120"/>
            </a:xfrm>
            <a:custGeom>
              <a:avLst/>
              <a:gdLst/>
              <a:ahLst/>
              <a:cxnLst/>
              <a:rect l="l" t="t" r="r" b="b"/>
              <a:pathLst>
                <a:path w="4434840" h="579119">
                  <a:moveTo>
                    <a:pt x="4434338" y="0"/>
                  </a:moveTo>
                  <a:lnTo>
                    <a:pt x="0" y="0"/>
                  </a:lnTo>
                  <a:lnTo>
                    <a:pt x="0" y="528283"/>
                  </a:lnTo>
                  <a:lnTo>
                    <a:pt x="4008" y="548007"/>
                  </a:lnTo>
                  <a:lnTo>
                    <a:pt x="14922" y="564160"/>
                  </a:lnTo>
                  <a:lnTo>
                    <a:pt x="31075" y="575074"/>
                  </a:lnTo>
                  <a:lnTo>
                    <a:pt x="50800" y="579083"/>
                  </a:lnTo>
                  <a:lnTo>
                    <a:pt x="4383537" y="579083"/>
                  </a:lnTo>
                  <a:lnTo>
                    <a:pt x="4403262" y="575074"/>
                  </a:lnTo>
                  <a:lnTo>
                    <a:pt x="4419415" y="564160"/>
                  </a:lnTo>
                  <a:lnTo>
                    <a:pt x="4430329" y="548007"/>
                  </a:lnTo>
                  <a:lnTo>
                    <a:pt x="4434338" y="528283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F3ED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202243" y="1835644"/>
            <a:ext cx="28511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800" spc="30" i="1">
                <a:latin typeface="Arial"/>
                <a:cs typeface="Arial"/>
              </a:rPr>
              <a:t>n</a:t>
            </a:r>
            <a:r>
              <a:rPr dirty="0" sz="800" spc="30">
                <a:latin typeface="Lucida Sans Unicode"/>
                <a:cs typeface="Lucida Sans Unicode"/>
              </a:rPr>
              <a:t>→∞</a:t>
            </a:r>
            <a:endParaRPr sz="8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555" y="1403932"/>
            <a:ext cx="3645535" cy="5029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sz="1100">
                <a:latin typeface="Arial MT"/>
                <a:cs typeface="Arial MT"/>
              </a:rPr>
              <a:t>If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connected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sets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baseline="-10416" sz="1200" i="1">
                <a:latin typeface="Arial"/>
                <a:cs typeface="Arial"/>
              </a:rPr>
              <a:t>n</a:t>
            </a:r>
            <a:r>
              <a:rPr dirty="0" baseline="-10416" sz="1200" spc="225" i="1">
                <a:latin typeface="Arial"/>
                <a:cs typeface="Arial"/>
              </a:rPr>
              <a:t> </a:t>
            </a:r>
            <a:r>
              <a:rPr dirty="0" sz="1100" spc="-80">
                <a:latin typeface="Arial MT"/>
                <a:cs typeface="Arial MT"/>
              </a:rPr>
              <a:t>converge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1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,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then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120" i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connected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and:</a:t>
            </a:r>
            <a:endParaRPr sz="1100">
              <a:latin typeface="Arial MT"/>
              <a:cs typeface="Arial MT"/>
            </a:endParaRPr>
          </a:p>
          <a:p>
            <a:pPr marL="1484630">
              <a:lnSpc>
                <a:spcPct val="100000"/>
              </a:lnSpc>
              <a:spcBef>
                <a:spcPts val="1130"/>
              </a:spcBef>
            </a:pPr>
            <a:r>
              <a:rPr dirty="0" sz="1100">
                <a:latin typeface="Lucida Sans Unicode"/>
                <a:cs typeface="Lucida Sans Unicode"/>
              </a:rPr>
              <a:t>H</a:t>
            </a:r>
            <a:r>
              <a:rPr dirty="0" baseline="31250" sz="1200">
                <a:latin typeface="Arial MT"/>
                <a:cs typeface="Arial MT"/>
              </a:rPr>
              <a:t>1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≤</a:t>
            </a:r>
            <a:r>
              <a:rPr dirty="0" sz="1100" spc="-40">
                <a:latin typeface="Lucida Sans Unicode"/>
                <a:cs typeface="Lucida Sans Unicode"/>
              </a:rPr>
              <a:t> </a:t>
            </a:r>
            <a:r>
              <a:rPr dirty="0" sz="1100" spc="-20">
                <a:latin typeface="Tahoma"/>
                <a:cs typeface="Tahoma"/>
              </a:rPr>
              <a:t>lim</a:t>
            </a:r>
            <a:r>
              <a:rPr dirty="0" sz="1100" spc="-16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inf</a:t>
            </a:r>
            <a:r>
              <a:rPr dirty="0" sz="1100" spc="-80">
                <a:latin typeface="Tahoma"/>
                <a:cs typeface="Tahoma"/>
              </a:rPr>
              <a:t> </a:t>
            </a:r>
            <a:r>
              <a:rPr dirty="0" sz="1100" spc="-10">
                <a:latin typeface="Lucida Sans Unicode"/>
                <a:cs typeface="Lucida Sans Unicode"/>
              </a:rPr>
              <a:t>H</a:t>
            </a:r>
            <a:r>
              <a:rPr dirty="0" baseline="31250" sz="1200" spc="-15">
                <a:latin typeface="Arial MT"/>
                <a:cs typeface="Arial MT"/>
              </a:rPr>
              <a:t>1</a:t>
            </a:r>
            <a:r>
              <a:rPr dirty="0" sz="1100" spc="-10">
                <a:latin typeface="Tahoma"/>
                <a:cs typeface="Tahoma"/>
              </a:rPr>
              <a:t>(</a:t>
            </a:r>
            <a:r>
              <a:rPr dirty="0" sz="1100" spc="-10" i="1">
                <a:latin typeface="Arial"/>
                <a:cs typeface="Arial"/>
              </a:rPr>
              <a:t>C</a:t>
            </a:r>
            <a:r>
              <a:rPr dirty="0" baseline="-10416" sz="1200" spc="-15" i="1">
                <a:latin typeface="Arial"/>
                <a:cs typeface="Arial"/>
              </a:rPr>
              <a:t>n</a:t>
            </a:r>
            <a:r>
              <a:rPr dirty="0" sz="1100" spc="-1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955" y="2079331"/>
            <a:ext cx="3638550" cy="1917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00" spc="-10">
                <a:latin typeface="Arial MT"/>
                <a:cs typeface="Arial MT"/>
              </a:rPr>
              <a:t>This</a:t>
            </a:r>
            <a:r>
              <a:rPr dirty="0" sz="1100" spc="-6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ensures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limit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114" i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least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10">
                <a:latin typeface="Arial MT"/>
                <a:cs typeface="Arial MT"/>
              </a:rPr>
              <a:t>as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"short"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10">
                <a:latin typeface="Arial MT"/>
                <a:cs typeface="Arial MT"/>
              </a:rPr>
              <a:t>as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sequence.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10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8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884"/>
            <a:ext cx="250253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0"/>
              <a:t>Existence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40"/>
              <a:t> </a:t>
            </a:r>
            <a:r>
              <a:rPr dirty="0" spc="-20"/>
              <a:t>intrinsic</a:t>
            </a:r>
            <a:r>
              <a:rPr dirty="0" spc="-35"/>
              <a:t> </a:t>
            </a:r>
            <a:r>
              <a:rPr dirty="0" spc="-55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86854" y="998918"/>
            <a:ext cx="4434840" cy="215265"/>
          </a:xfrm>
          <a:custGeom>
            <a:avLst/>
            <a:gdLst/>
            <a:ahLst/>
            <a:cxnLst/>
            <a:rect l="l" t="t" r="r" b="b"/>
            <a:pathLst>
              <a:path w="4434840" h="21526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01"/>
                </a:lnTo>
                <a:lnTo>
                  <a:pt x="4434338" y="215201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874C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37655" y="1014985"/>
            <a:ext cx="3958590" cy="184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70">
                <a:solidFill>
                  <a:srgbClr val="FFFFFF"/>
                </a:solidFill>
                <a:latin typeface="Arial MT"/>
                <a:cs typeface="Arial MT"/>
              </a:rPr>
              <a:t>Theorem</a:t>
            </a:r>
            <a:r>
              <a:rPr dirty="0" sz="1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dirty="0" sz="1200" spc="9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 MT"/>
                <a:cs typeface="Arial MT"/>
              </a:rPr>
              <a:t>(Existence</a:t>
            </a:r>
            <a:r>
              <a:rPr dirty="0" sz="1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dirty="0" sz="1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dirty="0" sz="1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20">
                <a:solidFill>
                  <a:srgbClr val="FFFFFF"/>
                </a:solidFill>
                <a:latin typeface="Arial MT"/>
                <a:cs typeface="Arial MT"/>
              </a:rPr>
              <a:t>intrinsic</a:t>
            </a:r>
            <a:r>
              <a:rPr dirty="0" sz="1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55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r>
              <a:rPr dirty="0" sz="1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dirty="0" sz="1200" spc="-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65">
                <a:solidFill>
                  <a:srgbClr val="FFFFFF"/>
                </a:solidFill>
                <a:latin typeface="Arial MT"/>
                <a:cs typeface="Arial MT"/>
              </a:rPr>
              <a:t>equivalence)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6854" y="1055842"/>
            <a:ext cx="4485640" cy="1476375"/>
            <a:chOff x="86854" y="1055842"/>
            <a:chExt cx="4485640" cy="14763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54" y="1201470"/>
              <a:ext cx="4434338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37655" y="1055842"/>
              <a:ext cx="4434840" cy="1476375"/>
            </a:xfrm>
            <a:custGeom>
              <a:avLst/>
              <a:gdLst/>
              <a:ahLst/>
              <a:cxnLst/>
              <a:rect l="l" t="t" r="r" b="b"/>
              <a:pathLst>
                <a:path w="4434840" h="1476375">
                  <a:moveTo>
                    <a:pt x="4434338" y="0"/>
                  </a:moveTo>
                  <a:lnTo>
                    <a:pt x="0" y="0"/>
                  </a:lnTo>
                  <a:lnTo>
                    <a:pt x="0" y="1476335"/>
                  </a:lnTo>
                  <a:lnTo>
                    <a:pt x="4434338" y="1476335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6854" y="1245738"/>
              <a:ext cx="4434840" cy="1235710"/>
            </a:xfrm>
            <a:custGeom>
              <a:avLst/>
              <a:gdLst/>
              <a:ahLst/>
              <a:cxnLst/>
              <a:rect l="l" t="t" r="r" b="b"/>
              <a:pathLst>
                <a:path w="4434840" h="1235710">
                  <a:moveTo>
                    <a:pt x="4434338" y="0"/>
                  </a:moveTo>
                  <a:lnTo>
                    <a:pt x="0" y="0"/>
                  </a:lnTo>
                  <a:lnTo>
                    <a:pt x="0" y="1184838"/>
                  </a:lnTo>
                  <a:lnTo>
                    <a:pt x="4008" y="1204563"/>
                  </a:lnTo>
                  <a:lnTo>
                    <a:pt x="14922" y="1220716"/>
                  </a:lnTo>
                  <a:lnTo>
                    <a:pt x="31075" y="1231630"/>
                  </a:lnTo>
                  <a:lnTo>
                    <a:pt x="50800" y="1235639"/>
                  </a:lnTo>
                  <a:lnTo>
                    <a:pt x="4383537" y="1235639"/>
                  </a:lnTo>
                  <a:lnTo>
                    <a:pt x="4403262" y="1231630"/>
                  </a:lnTo>
                  <a:lnTo>
                    <a:pt x="4419415" y="1220716"/>
                  </a:lnTo>
                  <a:lnTo>
                    <a:pt x="4430329" y="1204563"/>
                  </a:lnTo>
                  <a:lnTo>
                    <a:pt x="4434338" y="1184838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F3ED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6055" y="1226323"/>
            <a:ext cx="4511040" cy="122428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00965" marR="114935">
              <a:lnSpc>
                <a:spcPct val="102600"/>
              </a:lnSpc>
              <a:spcBef>
                <a:spcPts val="55"/>
              </a:spcBef>
            </a:pPr>
            <a:r>
              <a:rPr dirty="0" sz="1100" spc="-90">
                <a:latin typeface="Arial MT"/>
                <a:cs typeface="Arial MT"/>
              </a:rPr>
              <a:t>Suppose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11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baseline="27777" sz="1200">
                <a:latin typeface="Lucida Sans Unicode"/>
                <a:cs typeface="Lucida Sans Unicode"/>
              </a:rPr>
              <a:t>′</a:t>
            </a:r>
            <a:r>
              <a:rPr dirty="0" baseline="27777" sz="1200" spc="82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⊆</a:t>
            </a:r>
            <a:r>
              <a:rPr dirty="0" sz="1100" spc="-80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E</a:t>
            </a:r>
            <a:r>
              <a:rPr dirty="0" sz="1100" spc="120" i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nonempty,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5">
                <a:latin typeface="Arial MT"/>
                <a:cs typeface="Arial MT"/>
              </a:rPr>
              <a:t>assume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there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exists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a </a:t>
            </a:r>
            <a:r>
              <a:rPr dirty="0" sz="1100" spc="-60">
                <a:latin typeface="Arial MT"/>
                <a:cs typeface="Arial MT"/>
              </a:rPr>
              <a:t>connected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closed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set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90" i="1">
                <a:latin typeface="Arial"/>
                <a:cs typeface="Arial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⊆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i="1">
                <a:latin typeface="Arial"/>
                <a:cs typeface="Arial"/>
              </a:rPr>
              <a:t>E</a:t>
            </a:r>
            <a:r>
              <a:rPr dirty="0" sz="1100" spc="140" i="1">
                <a:latin typeface="Arial"/>
                <a:cs typeface="Arial"/>
              </a:rPr>
              <a:t> </a:t>
            </a:r>
            <a:r>
              <a:rPr dirty="0" sz="1100" spc="-75">
                <a:latin typeface="Arial MT"/>
                <a:cs typeface="Arial MT"/>
              </a:rPr>
              <a:t>such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that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H</a:t>
            </a:r>
            <a:r>
              <a:rPr dirty="0" baseline="27777" sz="1200">
                <a:latin typeface="Arial MT"/>
                <a:cs typeface="Arial MT"/>
              </a:rPr>
              <a:t>1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60" i="1">
                <a:latin typeface="Verdana"/>
                <a:cs typeface="Verdana"/>
              </a:rPr>
              <a:t>&lt;</a:t>
            </a:r>
            <a:r>
              <a:rPr dirty="0" sz="1100" spc="-85" i="1">
                <a:latin typeface="Verdana"/>
                <a:cs typeface="Verdana"/>
              </a:rPr>
              <a:t> </a:t>
            </a:r>
            <a:r>
              <a:rPr dirty="0" sz="1100">
                <a:latin typeface="Tahoma"/>
                <a:cs typeface="Tahoma"/>
              </a:rPr>
              <a:t>+</a:t>
            </a:r>
            <a:r>
              <a:rPr dirty="0" sz="1100">
                <a:latin typeface="Lucida Sans Unicode"/>
                <a:cs typeface="Lucida Sans Unicode"/>
              </a:rPr>
              <a:t>∞</a:t>
            </a:r>
            <a:r>
              <a:rPr dirty="0" sz="1100" spc="-15">
                <a:latin typeface="Lucida Sans Unicode"/>
                <a:cs typeface="Lucida Sans Unicode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1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baseline="27777" sz="1200">
                <a:latin typeface="Lucida Sans Unicode"/>
                <a:cs typeface="Lucida Sans Unicode"/>
              </a:rPr>
              <a:t>′</a:t>
            </a:r>
            <a:r>
              <a:rPr dirty="0" baseline="27777" sz="1200" spc="97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⊆</a:t>
            </a:r>
            <a:r>
              <a:rPr dirty="0" sz="1100" spc="-65">
                <a:latin typeface="Lucida Sans Unicode"/>
                <a:cs typeface="Lucida Sans Unicode"/>
              </a:rPr>
              <a:t> </a:t>
            </a:r>
            <a:r>
              <a:rPr dirty="0" sz="1100" spc="-11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sz="1100">
                <a:latin typeface="Arial MT"/>
                <a:cs typeface="Arial MT"/>
              </a:rPr>
              <a:t>.</a:t>
            </a:r>
            <a:r>
              <a:rPr dirty="0" sz="1100" spc="1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If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E</a:t>
            </a:r>
            <a:r>
              <a:rPr dirty="0" sz="1100" spc="145" i="1">
                <a:latin typeface="Arial"/>
                <a:cs typeface="Arial"/>
              </a:rPr>
              <a:t> </a:t>
            </a:r>
            <a:r>
              <a:rPr dirty="0" sz="1100" spc="-25">
                <a:latin typeface="Arial MT"/>
                <a:cs typeface="Arial MT"/>
              </a:rPr>
              <a:t>is </a:t>
            </a:r>
            <a:r>
              <a:rPr dirty="0" sz="1100" spc="-75">
                <a:latin typeface="Arial MT"/>
                <a:cs typeface="Arial MT"/>
              </a:rPr>
              <a:t>such</a:t>
            </a:r>
            <a:r>
              <a:rPr dirty="0" sz="1100">
                <a:latin typeface="Arial MT"/>
                <a:cs typeface="Arial MT"/>
              </a:rPr>
              <a:t> that</a:t>
            </a:r>
            <a:r>
              <a:rPr dirty="0" sz="1100" spc="-60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every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closed</a:t>
            </a:r>
            <a:r>
              <a:rPr dirty="0" sz="1100" spc="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ball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compact,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then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minimum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problem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>
                <a:latin typeface="Arial MT"/>
                <a:cs typeface="Arial MT"/>
              </a:rPr>
              <a:t>2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Arial MT"/>
                <a:cs typeface="Arial MT"/>
              </a:rPr>
              <a:t>has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4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solution.</a:t>
            </a:r>
            <a:endParaRPr sz="1100">
              <a:latin typeface="Arial MT"/>
              <a:cs typeface="Arial MT"/>
            </a:endParaRPr>
          </a:p>
          <a:p>
            <a:pPr marL="100965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latin typeface="Arial MT"/>
                <a:cs typeface="Arial MT"/>
              </a:rPr>
              <a:t>In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the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particular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14">
                <a:latin typeface="Arial MT"/>
                <a:cs typeface="Arial MT"/>
              </a:rPr>
              <a:t>case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80">
                <a:latin typeface="Arial MT"/>
                <a:cs typeface="Arial MT"/>
              </a:rPr>
              <a:t>where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10" i="1">
                <a:latin typeface="Arial"/>
                <a:cs typeface="Arial"/>
              </a:rPr>
              <a:t>C</a:t>
            </a:r>
            <a:r>
              <a:rPr dirty="0" sz="1100" spc="-175" i="1">
                <a:latin typeface="Arial"/>
                <a:cs typeface="Arial"/>
              </a:rPr>
              <a:t> </a:t>
            </a:r>
            <a:r>
              <a:rPr dirty="0" baseline="27777" sz="1200">
                <a:latin typeface="Lucida Sans Unicode"/>
                <a:cs typeface="Lucida Sans Unicode"/>
              </a:rPr>
              <a:t>′</a:t>
            </a:r>
            <a:r>
              <a:rPr dirty="0" baseline="27777" sz="1200" spc="112">
                <a:latin typeface="Lucida Sans Unicode"/>
                <a:cs typeface="Lucida Sans Unicode"/>
              </a:rPr>
              <a:t> </a:t>
            </a:r>
            <a:r>
              <a:rPr dirty="0" sz="1100">
                <a:latin typeface="Tahoma"/>
                <a:cs typeface="Tahoma"/>
              </a:rPr>
              <a:t>=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>
                <a:latin typeface="Lucida Sans Unicode"/>
                <a:cs typeface="Lucida Sans Unicode"/>
              </a:rPr>
              <a:t>{</a:t>
            </a:r>
            <a:r>
              <a:rPr dirty="0" sz="1100" i="1">
                <a:latin typeface="Arial"/>
                <a:cs typeface="Arial"/>
              </a:rPr>
              <a:t>x</a:t>
            </a:r>
            <a:r>
              <a:rPr dirty="0" sz="1100" i="1">
                <a:latin typeface="Verdana"/>
                <a:cs typeface="Verdana"/>
              </a:rPr>
              <a:t>,</a:t>
            </a:r>
            <a:r>
              <a:rPr dirty="0" sz="1100" spc="-204" i="1">
                <a:latin typeface="Verdana"/>
                <a:cs typeface="Verdana"/>
              </a:rPr>
              <a:t> </a:t>
            </a:r>
            <a:r>
              <a:rPr dirty="0" sz="1100" spc="-55" i="1">
                <a:latin typeface="Arial"/>
                <a:cs typeface="Arial"/>
              </a:rPr>
              <a:t>y</a:t>
            </a:r>
            <a:r>
              <a:rPr dirty="0" sz="1100" spc="-190" i="1">
                <a:latin typeface="Arial"/>
                <a:cs typeface="Arial"/>
              </a:rPr>
              <a:t> </a:t>
            </a:r>
            <a:r>
              <a:rPr dirty="0" sz="1100" spc="180">
                <a:latin typeface="Lucida Sans Unicode"/>
                <a:cs typeface="Lucida Sans Unicode"/>
              </a:rPr>
              <a:t>}</a:t>
            </a:r>
            <a:r>
              <a:rPr dirty="0" sz="1100" spc="-30">
                <a:latin typeface="Lucida Sans Unicode"/>
                <a:cs typeface="Lucida Sans Unicode"/>
              </a:rPr>
              <a:t> </a:t>
            </a:r>
            <a:r>
              <a:rPr dirty="0" sz="1100" spc="-85">
                <a:latin typeface="Arial MT"/>
                <a:cs typeface="Arial MT"/>
              </a:rPr>
              <a:t>comprises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two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distinct</a:t>
            </a:r>
            <a:r>
              <a:rPr dirty="0" sz="1100" spc="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points,</a:t>
            </a:r>
            <a:r>
              <a:rPr dirty="0" sz="1100" spc="2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then</a:t>
            </a:r>
            <a:endParaRPr sz="1100">
              <a:latin typeface="Arial MT"/>
              <a:cs typeface="Arial MT"/>
            </a:endParaRPr>
          </a:p>
          <a:p>
            <a:pPr marL="100965" marR="342900">
              <a:lnSpc>
                <a:spcPct val="102600"/>
              </a:lnSpc>
            </a:pPr>
            <a:r>
              <a:rPr dirty="0" sz="1100">
                <a:latin typeface="Tahoma"/>
                <a:cs typeface="Tahoma"/>
              </a:rPr>
              <a:t>(</a:t>
            </a:r>
            <a:r>
              <a:rPr dirty="0" sz="1100">
                <a:latin typeface="Arial MT"/>
                <a:cs typeface="Arial MT"/>
              </a:rPr>
              <a:t>2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 spc="-10">
                <a:latin typeface="Arial MT"/>
                <a:cs typeface="Arial MT"/>
              </a:rPr>
              <a:t>is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equivalent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to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parametric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geodesic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problem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Tahoma"/>
                <a:cs typeface="Tahoma"/>
              </a:rPr>
              <a:t>(</a:t>
            </a:r>
            <a:r>
              <a:rPr dirty="0" sz="1100">
                <a:latin typeface="Arial MT"/>
                <a:cs typeface="Arial MT"/>
              </a:rPr>
              <a:t>1</a:t>
            </a:r>
            <a:r>
              <a:rPr dirty="0" sz="1100">
                <a:latin typeface="Tahoma"/>
                <a:cs typeface="Tahoma"/>
              </a:rPr>
              <a:t>)</a:t>
            </a:r>
            <a:r>
              <a:rPr dirty="0" sz="1100">
                <a:latin typeface="Arial MT"/>
                <a:cs typeface="Arial MT"/>
              </a:rPr>
              <a:t>, that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is,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every </a:t>
            </a:r>
            <a:r>
              <a:rPr dirty="0" sz="1100" spc="-35">
                <a:latin typeface="Arial MT"/>
                <a:cs typeface="Arial MT"/>
              </a:rPr>
              <a:t>minimizing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set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i="1">
                <a:latin typeface="Arial"/>
                <a:cs typeface="Arial"/>
              </a:rPr>
              <a:t>C</a:t>
            </a:r>
            <a:r>
              <a:rPr dirty="0" sz="1100" spc="80" i="1">
                <a:latin typeface="Arial"/>
                <a:cs typeface="Arial"/>
              </a:rPr>
              <a:t> </a:t>
            </a:r>
            <a:r>
              <a:rPr dirty="0" sz="1100" spc="-65">
                <a:latin typeface="Arial MT"/>
                <a:cs typeface="Arial MT"/>
              </a:rPr>
              <a:t>can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be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parametrized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by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an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injective</a:t>
            </a:r>
            <a:r>
              <a:rPr dirty="0" sz="1100" spc="-2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Lipschitz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curve.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10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8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90"/>
              <a:t>Perspectives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212" y="1023442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212" y="1233475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4955" y="686178"/>
            <a:ext cx="4290060" cy="6559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 spc="-10" b="1">
                <a:latin typeface="Arial"/>
                <a:cs typeface="Arial"/>
              </a:rPr>
              <a:t>Future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Outlook: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dirty="0" sz="1100" spc="-40">
                <a:latin typeface="Arial MT"/>
                <a:cs typeface="Arial MT"/>
              </a:rPr>
              <a:t>Investigating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higher-</a:t>
            </a:r>
            <a:r>
              <a:rPr dirty="0" sz="1100" spc="-55">
                <a:latin typeface="Arial MT"/>
                <a:cs typeface="Arial MT"/>
              </a:rPr>
              <a:t>dimensional</a:t>
            </a:r>
            <a:r>
              <a:rPr dirty="0" sz="1100" spc="35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rectifiable</a:t>
            </a:r>
            <a:r>
              <a:rPr dirty="0" sz="1100" spc="3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currents.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dirty="0" sz="1100" spc="-40">
                <a:latin typeface="Arial MT"/>
                <a:cs typeface="Arial MT"/>
              </a:rPr>
              <a:t>Studying</a:t>
            </a:r>
            <a:r>
              <a:rPr dirty="0" sz="1100" spc="-3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regularity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and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60">
                <a:latin typeface="Arial MT"/>
                <a:cs typeface="Arial MT"/>
              </a:rPr>
              <a:t>branch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points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85">
                <a:latin typeface="Arial MT"/>
                <a:cs typeface="Arial MT"/>
              </a:rPr>
              <a:t>soap</a:t>
            </a:r>
            <a:r>
              <a:rPr dirty="0" sz="1100" spc="10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film-</a:t>
            </a:r>
            <a:r>
              <a:rPr dirty="0" sz="1100" spc="-20">
                <a:latin typeface="Arial MT"/>
                <a:cs typeface="Arial MT"/>
              </a:rPr>
              <a:t>like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structures.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6854" y="1787994"/>
            <a:ext cx="4434840" cy="203835"/>
          </a:xfrm>
          <a:custGeom>
            <a:avLst/>
            <a:gdLst/>
            <a:ahLst/>
            <a:cxnLst/>
            <a:rect l="l" t="t" r="r" b="b"/>
            <a:pathLst>
              <a:path w="4434840" h="203835">
                <a:moveTo>
                  <a:pt x="4383537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3605"/>
                </a:lnTo>
                <a:lnTo>
                  <a:pt x="4434338" y="203605"/>
                </a:lnTo>
                <a:lnTo>
                  <a:pt x="4434338" y="50800"/>
                </a:lnTo>
                <a:lnTo>
                  <a:pt x="4430329" y="31075"/>
                </a:lnTo>
                <a:lnTo>
                  <a:pt x="4419415" y="14922"/>
                </a:lnTo>
                <a:lnTo>
                  <a:pt x="4403262" y="4008"/>
                </a:lnTo>
                <a:lnTo>
                  <a:pt x="4383537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7655" y="1800886"/>
            <a:ext cx="883285" cy="1847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10"/>
              </a:lnSpc>
            </a:pPr>
            <a:r>
              <a:rPr dirty="0" sz="1200" spc="-25">
                <a:solidFill>
                  <a:srgbClr val="FFFFFF"/>
                </a:solidFill>
                <a:latin typeface="Arial MT"/>
                <a:cs typeface="Arial MT"/>
              </a:rPr>
              <a:t>Final</a:t>
            </a:r>
            <a:r>
              <a:rPr dirty="0" sz="1200" spc="-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200" spc="-40">
                <a:solidFill>
                  <a:srgbClr val="FFFFFF"/>
                </a:solidFill>
                <a:latin typeface="Arial MT"/>
                <a:cs typeface="Arial MT"/>
              </a:rPr>
              <a:t>Thought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854" y="1844920"/>
            <a:ext cx="4485640" cy="599440"/>
            <a:chOff x="86854" y="1844920"/>
            <a:chExt cx="4485640" cy="59944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854" y="1978952"/>
              <a:ext cx="4434338" cy="5060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37655" y="1844920"/>
              <a:ext cx="4434840" cy="599440"/>
            </a:xfrm>
            <a:custGeom>
              <a:avLst/>
              <a:gdLst/>
              <a:ahLst/>
              <a:cxnLst/>
              <a:rect l="l" t="t" r="r" b="b"/>
              <a:pathLst>
                <a:path w="4434840" h="599439">
                  <a:moveTo>
                    <a:pt x="4434338" y="0"/>
                  </a:moveTo>
                  <a:lnTo>
                    <a:pt x="0" y="0"/>
                  </a:lnTo>
                  <a:lnTo>
                    <a:pt x="0" y="598954"/>
                  </a:lnTo>
                  <a:lnTo>
                    <a:pt x="4434338" y="598954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6854" y="2023220"/>
              <a:ext cx="4434840" cy="370205"/>
            </a:xfrm>
            <a:custGeom>
              <a:avLst/>
              <a:gdLst/>
              <a:ahLst/>
              <a:cxnLst/>
              <a:rect l="l" t="t" r="r" b="b"/>
              <a:pathLst>
                <a:path w="4434840" h="370205">
                  <a:moveTo>
                    <a:pt x="4434338" y="0"/>
                  </a:moveTo>
                  <a:lnTo>
                    <a:pt x="0" y="0"/>
                  </a:lnTo>
                  <a:lnTo>
                    <a:pt x="0" y="319053"/>
                  </a:lnTo>
                  <a:lnTo>
                    <a:pt x="4008" y="338777"/>
                  </a:lnTo>
                  <a:lnTo>
                    <a:pt x="14922" y="354930"/>
                  </a:lnTo>
                  <a:lnTo>
                    <a:pt x="31075" y="365845"/>
                  </a:lnTo>
                  <a:lnTo>
                    <a:pt x="50800" y="369853"/>
                  </a:lnTo>
                  <a:lnTo>
                    <a:pt x="4383537" y="369853"/>
                  </a:lnTo>
                  <a:lnTo>
                    <a:pt x="4403262" y="365845"/>
                  </a:lnTo>
                  <a:lnTo>
                    <a:pt x="4419415" y="354930"/>
                  </a:lnTo>
                  <a:lnTo>
                    <a:pt x="4430329" y="338777"/>
                  </a:lnTo>
                  <a:lnTo>
                    <a:pt x="4434338" y="319053"/>
                  </a:lnTo>
                  <a:lnTo>
                    <a:pt x="4434338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24955" y="1998394"/>
            <a:ext cx="4447540" cy="829944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 marR="467359">
              <a:lnSpc>
                <a:spcPct val="102699"/>
              </a:lnSpc>
              <a:spcBef>
                <a:spcPts val="55"/>
              </a:spcBef>
            </a:pPr>
            <a:r>
              <a:rPr dirty="0" sz="1100" spc="-20">
                <a:latin typeface="Arial MT"/>
                <a:cs typeface="Arial MT"/>
              </a:rPr>
              <a:t>Starting</a:t>
            </a:r>
            <a:r>
              <a:rPr dirty="0" sz="1100" spc="-5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from</a:t>
            </a:r>
            <a:r>
              <a:rPr dirty="0" sz="1100" spc="-2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a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simple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set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0">
                <a:latin typeface="Arial MT"/>
                <a:cs typeface="Arial MT"/>
              </a:rPr>
              <a:t>points,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100">
                <a:latin typeface="Arial MT"/>
                <a:cs typeface="Arial MT"/>
              </a:rPr>
              <a:t>we</a:t>
            </a:r>
            <a:r>
              <a:rPr dirty="0" sz="1100" spc="2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reach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55">
                <a:latin typeface="Arial MT"/>
                <a:cs typeface="Arial MT"/>
              </a:rPr>
              <a:t>complex</a:t>
            </a:r>
            <a:r>
              <a:rPr dirty="0" sz="1100" spc="-1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beauty</a:t>
            </a:r>
            <a:r>
              <a:rPr dirty="0" sz="1100" spc="-1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of </a:t>
            </a:r>
            <a:r>
              <a:rPr dirty="0" sz="1100" spc="-20">
                <a:latin typeface="Arial MT"/>
                <a:cs typeface="Arial MT"/>
              </a:rPr>
              <a:t>optimal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5">
                <a:latin typeface="Arial MT"/>
                <a:cs typeface="Arial MT"/>
              </a:rPr>
              <a:t>geometric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structures</a:t>
            </a:r>
            <a:r>
              <a:rPr dirty="0" sz="1100">
                <a:latin typeface="Arial MT"/>
                <a:cs typeface="Arial MT"/>
              </a:rPr>
              <a:t> in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30">
                <a:latin typeface="Arial MT"/>
                <a:cs typeface="Arial MT"/>
              </a:rPr>
              <a:t>abstract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10">
                <a:latin typeface="Arial MT"/>
                <a:cs typeface="Arial MT"/>
              </a:rPr>
              <a:t>spaces.</a:t>
            </a:r>
            <a:endParaRPr sz="1100">
              <a:latin typeface="Arial MT"/>
              <a:cs typeface="Arial MT"/>
            </a:endParaRPr>
          </a:p>
          <a:p>
            <a:pPr marL="12700" marR="252095">
              <a:lnSpc>
                <a:spcPct val="102699"/>
              </a:lnSpc>
              <a:spcBef>
                <a:spcPts val="960"/>
              </a:spcBef>
            </a:pPr>
            <a:r>
              <a:rPr dirty="0" sz="1100" b="1">
                <a:latin typeface="Arial"/>
                <a:cs typeface="Arial"/>
              </a:rPr>
              <a:t>A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35" b="1">
                <a:latin typeface="Arial"/>
                <a:cs typeface="Arial"/>
              </a:rPr>
              <a:t>Gateway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to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Minimal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45" b="1">
                <a:latin typeface="Arial"/>
                <a:cs typeface="Arial"/>
              </a:rPr>
              <a:t>Surfaces:</a:t>
            </a:r>
            <a:r>
              <a:rPr dirty="0" sz="1100" spc="95" b="1">
                <a:latin typeface="Arial"/>
                <a:cs typeface="Arial"/>
              </a:rPr>
              <a:t> </a:t>
            </a:r>
            <a:r>
              <a:rPr dirty="0" sz="1100" spc="-10">
                <a:latin typeface="Arial MT"/>
                <a:cs typeface="Arial MT"/>
              </a:rPr>
              <a:t>The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Steiner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50">
                <a:latin typeface="Arial MT"/>
                <a:cs typeface="Arial MT"/>
              </a:rPr>
              <a:t>problem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can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35">
                <a:latin typeface="Arial MT"/>
                <a:cs typeface="Arial MT"/>
              </a:rPr>
              <a:t>be</a:t>
            </a:r>
            <a:r>
              <a:rPr dirty="0" sz="1100">
                <a:latin typeface="Arial MT"/>
                <a:cs typeface="Arial MT"/>
              </a:rPr>
              <a:t> </a:t>
            </a:r>
            <a:r>
              <a:rPr dirty="0" sz="1100" spc="-114">
                <a:latin typeface="Arial MT"/>
                <a:cs typeface="Arial MT"/>
              </a:rPr>
              <a:t>seen</a:t>
            </a:r>
            <a:r>
              <a:rPr dirty="0" sz="1100" spc="40">
                <a:latin typeface="Arial MT"/>
                <a:cs typeface="Arial MT"/>
              </a:rPr>
              <a:t> </a:t>
            </a:r>
            <a:r>
              <a:rPr dirty="0" sz="1100" spc="-25">
                <a:latin typeface="Arial MT"/>
                <a:cs typeface="Arial MT"/>
              </a:rPr>
              <a:t>as </a:t>
            </a:r>
            <a:r>
              <a:rPr dirty="0" sz="1100">
                <a:latin typeface="Arial MT"/>
                <a:cs typeface="Arial MT"/>
              </a:rPr>
              <a:t>the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40">
                <a:latin typeface="Arial MT"/>
                <a:cs typeface="Arial MT"/>
              </a:rPr>
              <a:t>simplest,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65">
                <a:latin typeface="Arial MT"/>
                <a:cs typeface="Arial MT"/>
              </a:rPr>
              <a:t>1-</a:t>
            </a:r>
            <a:r>
              <a:rPr dirty="0" sz="1100" spc="-60">
                <a:latin typeface="Arial MT"/>
                <a:cs typeface="Arial MT"/>
              </a:rPr>
              <a:t>dimensional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 spc="-70">
                <a:latin typeface="Arial MT"/>
                <a:cs typeface="Arial MT"/>
              </a:rPr>
              <a:t>version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of</a:t>
            </a:r>
            <a:r>
              <a:rPr dirty="0" sz="1100" spc="-5">
                <a:latin typeface="Arial MT"/>
                <a:cs typeface="Arial MT"/>
              </a:rPr>
              <a:t> </a:t>
            </a:r>
            <a:r>
              <a:rPr dirty="0" sz="1100">
                <a:latin typeface="Arial MT"/>
                <a:cs typeface="Arial MT"/>
              </a:rPr>
              <a:t>the </a:t>
            </a:r>
            <a:r>
              <a:rPr dirty="0" sz="1100" i="1">
                <a:latin typeface="Times New Roman"/>
                <a:cs typeface="Times New Roman"/>
              </a:rPr>
              <a:t>Plateau</a:t>
            </a:r>
            <a:r>
              <a:rPr dirty="0" sz="1100" spc="25" i="1">
                <a:latin typeface="Times New Roman"/>
                <a:cs typeface="Times New Roman"/>
              </a:rPr>
              <a:t> </a:t>
            </a:r>
            <a:r>
              <a:rPr dirty="0" sz="1100" spc="-10" i="1">
                <a:latin typeface="Times New Roman"/>
                <a:cs typeface="Times New Roman"/>
              </a:rPr>
              <a:t>Problem</a:t>
            </a:r>
            <a:r>
              <a:rPr dirty="0" sz="1100" spc="-10">
                <a:latin typeface="Arial MT"/>
                <a:cs typeface="Arial MT"/>
              </a:rPr>
              <a:t>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272"/>
            <a:ext cx="4608195" cy="109855"/>
            <a:chOff x="0" y="3346272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5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10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8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1884"/>
            <a:ext cx="228155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55">
                <a:solidFill>
                  <a:srgbClr val="FFFFFF"/>
                </a:solidFill>
                <a:latin typeface="Arial MT"/>
                <a:cs typeface="Arial MT"/>
              </a:rPr>
              <a:t>2-</a:t>
            </a:r>
            <a:r>
              <a:rPr dirty="0" sz="1400" spc="-70">
                <a:solidFill>
                  <a:srgbClr val="FFFFFF"/>
                </a:solidFill>
                <a:latin typeface="Arial MT"/>
                <a:cs typeface="Arial MT"/>
              </a:rPr>
              <a:t>dimensional</a:t>
            </a:r>
            <a:r>
              <a:rPr dirty="0" sz="1400" spc="-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Arial MT"/>
                <a:cs typeface="Arial MT"/>
              </a:rPr>
              <a:t>Plateau</a:t>
            </a:r>
            <a:r>
              <a:rPr dirty="0" sz="140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01235"/>
            <a:ext cx="4608195" cy="3054985"/>
            <a:chOff x="0" y="401235"/>
            <a:chExt cx="4608195" cy="30549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655" y="401235"/>
              <a:ext cx="4332565" cy="305476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35976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2323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071952" y="3346272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727"/>
                  </a:lnTo>
                  <a:lnTo>
                    <a:pt x="1535976" y="109727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306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MAI</a:t>
            </a:r>
            <a:r>
              <a:rPr dirty="0" spc="40"/>
              <a:t> </a:t>
            </a:r>
            <a:r>
              <a:rPr dirty="0" spc="90"/>
              <a:t>&amp;</a:t>
            </a:r>
            <a:r>
              <a:rPr dirty="0" spc="40"/>
              <a:t> </a:t>
            </a:r>
            <a:r>
              <a:rPr dirty="0" spc="45"/>
              <a:t>REYNAUD</a:t>
            </a:r>
            <a:r>
              <a:rPr dirty="0" spc="295"/>
              <a:t> </a:t>
            </a:r>
            <a:r>
              <a:rPr dirty="0"/>
              <a:t>(Vincent</a:t>
            </a:r>
            <a:r>
              <a:rPr dirty="0" spc="40"/>
              <a:t> </a:t>
            </a:r>
            <a:r>
              <a:rPr dirty="0" spc="-10"/>
              <a:t>MILLOT)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03552" y="3338410"/>
            <a:ext cx="800735" cy="12255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0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The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2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Steiner</a:t>
            </a:r>
            <a:r>
              <a:rPr dirty="0" sz="600" spc="3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dirty="0" sz="600" spc="-1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Problem</a:t>
            </a:r>
            <a:endParaRPr sz="600">
              <a:latin typeface="Verdana"/>
              <a:cs typeface="Verdan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/>
              <a:t>April</a:t>
            </a:r>
            <a:r>
              <a:rPr dirty="0" spc="20"/>
              <a:t> </a:t>
            </a:r>
            <a:r>
              <a:rPr dirty="0" spc="-25"/>
              <a:t>2026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7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45"/>
              <a:t>10</a:t>
            </a:fld>
            <a:r>
              <a:rPr dirty="0" spc="-90"/>
              <a:t> </a:t>
            </a:r>
            <a:r>
              <a:rPr dirty="0" spc="70"/>
              <a:t>/</a:t>
            </a:r>
            <a:r>
              <a:rPr dirty="0" spc="-85"/>
              <a:t> </a:t>
            </a:r>
            <a:r>
              <a:rPr dirty="0" spc="-25"/>
              <a:t>16</a:t>
            </a: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MAI Sophia and REYNAUD Clo</dc:creator>
  <dc:title>The Steiner Problem in Metric Spaces</dc:title>
  <dcterms:created xsi:type="dcterms:W3CDTF">2026-05-17T22:54:43Z</dcterms:created>
  <dcterms:modified xsi:type="dcterms:W3CDTF">2026-05-17T22:54:43Z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2026-05-17T00:00:00Z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2026-05-17T00:00:00Z</vt:filetime>
  </property>
  <property fmtid="{D5CDD505-2E9C-101B-9397-08002B2CF9AE}" pid="6" name="PTEX.Fullbanner">
    <vt:lpwstr>This is pdfTeX, Version 3.141592653-2.6-1.40.27 (TeX Live 2025) kpathsea version 6.4.1</vt:lpwstr>
  </property>
  <property fmtid="{D5CDD505-2E9C-101B-9397-08002B2CF9AE}" pid="7" name="Producer">
    <vt:lpwstr>pdfTeX-1.40.27</vt:lpwstr>
  </property>
</Properties>
</file>